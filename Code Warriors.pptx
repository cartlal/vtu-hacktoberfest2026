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5DF76131-EBC2-8FFD-D0DE-C6596BF9405D}">
          <p14:sldIdLst>
            <p14:sldId id="256"/>
          </p14:sldIdLst>
        </p14:section>
        <p14:section name="Solution" id="{D81951EF-07BA-9533-F27B-A4E11DAFA91E}">
          <p14:sldIdLst>
            <p14:sldId id="257"/>
          </p14:sldIdLst>
        </p14:section>
        <p14:section name="Innovation" id="{A5B1D4C5-2E93-211B-8C14-F731A05ED651}">
          <p14:sldIdLst>
            <p14:sldId id="258"/>
          </p14:sldIdLst>
        </p14:section>
        <p14:section name="Architecture" id="{659623E1-5F20-471F-232E-0E3D430896EB}">
          <p14:sldIdLst>
            <p14:sldId id="259"/>
          </p14:sldIdLst>
        </p14:section>
        <p14:section name="Technology" id="{65010147-2902-29A1-E4DA-9CA2B5083623}">
          <p14:sldIdLst>
            <p14:sldId id="260"/>
          </p14:sldIdLst>
        </p14:section>
        <p14:section name="Demo" id="{BDBD59D4-AF40-F664-473E-31269FFF4DB3}">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49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4707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Discharge is the last chance to plan follow-up care. Today that judgement is often made under time pressure, without a consistent risk signal. ReadmitLens targets exactly that moment. We are helping the clinicians who make the decision, not replacing them. Our target users are physicians, discharge planners, care coordinators and quality teams.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readmission models stop at a number, and a clinician cannot act on '0.72'. We return three things: a probability, a risk tier, and the reasons behind it. Step by step: patient data is entered, preprocessed, scored by a gradient-boosted model, mapped to Low / Medium / High, and explained with SHAP. Tier thresholds are configurable and calibrated on validation data, not hard-coded. The card on the right is an illustrative UI mock-up, not real patient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alone is not the innovation — gradient-boosted models on tabular hospital data are well established. Manual assessment is subjective and does not scale. Rule-based indices like LACE are simple but use a few fixed weights. Generic ML can be accurate but is a black box clinicians will not trust. Our contribution is the full loop: a prediction, a patient-specific explanation, and a prioritised worklist the care team can act on. Predict, explain, prioritize.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clinician uses the React dashboard, which talks to a Node.js TypeScript backend over HTTPS with JWT authentication. The backend is the orchestrator: it stores patients, predictions and audit records in PostgreSQL, uses Redis for caching and sessions, and calls a separate Python FastAPI ML service. Inside that service, data is preprocessed, scored by XGBoost or LightGBM, and explained with SHAP. The risk score, tier and top factors flow back to the dashboard. Because the ML service is decoupled, the model can be retrained or swapped without touching the app. The strip at the bottom is the end-to-end data workflow.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picked a stack that teams actually use in production, grouped into six layers. The build runs in five phases: dataset and preprocessing, ML model, backend API, frontend dashboard, then integration, testing and demo. Because we define the API contract first in OpenAPI, phases 1–2 and 3–4 can run in parallel. The left card on the bottom right is what we will deliver at the hackathon. The dashed card is clearly future work — EHR integration, fairness audits, monitoring and clinical validation.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live demo flow: a clinician logs in, selects or creates a patient, enters clinical data, the backend sends it to the ML service, and the dashboard shows the probability, the Low / Medium / High tier, the SHAP contributing factors, and finally a risk-ranked patient list. We will deliver a working dashboard, prediction API, trained model, explainability module and database as one end-to-end prototype. We measure success with recall, F1, ROC-AUC and especially PR-AUC, because readmissions are the minority class and accuracy alone is misleading. All metric values will be reported honestly once evaluated. The prototype uses only the public, de-identified UCI Diabetes 130-US Hospitals dataset. Key risks: dataset fit, bias, privacy, and the need for clinical validation before any real-world use. ReadmitLens: Predict. Explain. Prioritize. Thank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292608"/>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3" name="Text 0"/>
          <p:cNvSpPr>
            <a:spLocks noGrp="1"/>
          </p:cNvSpPr>
          <p:nvPr>
            <p:ph type="title" idx="101" hasCustomPrompt="1"/>
          </p:nvPr>
        </p:nvSpPr>
        <p:spPr>
          <a:xfrm>
            <a:off x="548640" y="621792"/>
            <a:ext cx="11091672" cy="658368"/>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ReadmitLens  ·  Predict → Explain → Prioritize</a:t>
            </a:r>
            <a:endParaRPr lang="en-US" sz="10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txBox="1"/>
          <p:nvPr/>
        </p:nvSpPr>
        <p:spPr>
          <a:xfrm>
            <a:off x="457200" y="548640"/>
            <a:ext cx="5303520" cy="914400"/>
          </a:xfrm>
          <a:prstGeom prst="rect">
            <a:avLst/>
          </a:prstGeom>
          <a:noFill/>
          <a:ln/>
        </p:spPr>
        <p:txBody>
          <a:bodyPr wrap="square" lIns="0" tIns="0" rIns="0" bIns="0" rtlCol="0" anchor="ctr"/>
          <a:lstStyle/>
          <a:p>
            <a:pPr marL="0" indent="0">
              <a:buNone/>
            </a:pPr>
            <a:r>
              <a:rPr lang="en-US" sz="6600" b="1" dirty="0">
                <a:solidFill>
                  <a:schemeClr val="bg1"/>
                </a:solidFill>
                <a:latin typeface="+mj-lt" pitchFamily="34" charset="0"/>
                <a:ea typeface="+mj-lt" pitchFamily="34" charset="-122"/>
                <a:cs typeface="+mj-lt" pitchFamily="34" charset="-120"/>
              </a:rPr>
              <a:t>ReadmitLens</a:t>
            </a:r>
            <a:endParaRPr lang="en-US" sz="5400" dirty="0"/>
          </a:p>
        </p:txBody>
      </p:sp>
      <p:sp>
        <p:nvSpPr>
          <p:cNvPr id="4" name="Text 2"/>
          <p:cNvSpPr txBox="1"/>
          <p:nvPr/>
        </p:nvSpPr>
        <p:spPr>
          <a:xfrm>
            <a:off x="548640" y="1604234"/>
            <a:ext cx="5303520" cy="411480"/>
          </a:xfrm>
          <a:prstGeom prst="rect">
            <a:avLst/>
          </a:prstGeom>
          <a:noFill/>
          <a:ln/>
        </p:spPr>
        <p:txBody>
          <a:bodyPr wrap="square" lIns="0" tIns="0" rIns="0" bIns="0" rtlCol="0" anchor="ctr"/>
          <a:lstStyle/>
          <a:p>
            <a:pPr marL="0" indent="0">
              <a:buNone/>
            </a:pPr>
            <a:r>
              <a:rPr lang="en-US" sz="2000" i="1" dirty="0">
                <a:solidFill>
                  <a:schemeClr val="accent2"/>
                </a:solidFill>
              </a:rPr>
              <a:t>Predict. Explain. Prioritize before discharge.</a:t>
            </a:r>
            <a:endParaRPr lang="en-US" sz="2000" dirty="0"/>
          </a:p>
        </p:txBody>
      </p:sp>
      <p:sp>
        <p:nvSpPr>
          <p:cNvPr id="5" name="Text 3"/>
          <p:cNvSpPr txBox="1"/>
          <p:nvPr/>
        </p:nvSpPr>
        <p:spPr>
          <a:xfrm>
            <a:off x="548640" y="2560320"/>
            <a:ext cx="5303520" cy="274320"/>
          </a:xfrm>
          <a:prstGeom prst="rect">
            <a:avLst/>
          </a:prstGeom>
          <a:noFill/>
          <a:ln/>
        </p:spPr>
        <p:txBody>
          <a:bodyPr wrap="square" lIns="0" tIns="0" rIns="0" bIns="0" rtlCol="0" anchor="ctr"/>
          <a:lstStyle/>
          <a:p>
            <a:pPr marL="0" indent="0">
              <a:buNone/>
            </a:pPr>
            <a:r>
              <a:rPr lang="en-US" sz="1100" b="1" kern="0" spc="200" dirty="0">
                <a:solidFill>
                  <a:schemeClr val="accent6"/>
                </a:solidFill>
              </a:rPr>
              <a:t>TARGET USERS</a:t>
            </a:r>
            <a:endParaRPr lang="en-US" sz="1100" dirty="0"/>
          </a:p>
        </p:txBody>
      </p:sp>
      <p:sp>
        <p:nvSpPr>
          <p:cNvPr id="6" name="Text 4"/>
          <p:cNvSpPr txBox="1"/>
          <p:nvPr/>
        </p:nvSpPr>
        <p:spPr>
          <a:xfrm>
            <a:off x="548640" y="2834640"/>
            <a:ext cx="5120640" cy="640080"/>
          </a:xfrm>
          <a:prstGeom prst="rect">
            <a:avLst/>
          </a:prstGeom>
          <a:noFill/>
          <a:ln/>
        </p:spPr>
        <p:txBody>
          <a:bodyPr wrap="square" lIns="0" tIns="0" rIns="0" bIns="0" rtlCol="0" anchor="t"/>
          <a:lstStyle/>
          <a:p>
            <a:pPr marL="0" indent="0">
              <a:buNone/>
            </a:pPr>
            <a:r>
              <a:rPr lang="en-US" sz="1500" dirty="0">
                <a:solidFill>
                  <a:schemeClr val="bg1"/>
                </a:solidFill>
              </a:rPr>
              <a:t>Physicians  ·  Discharge planners  ·  Care coordinators  ·  Hospital quality teams</a:t>
            </a:r>
            <a:endParaRPr lang="en-US" sz="1500" dirty="0"/>
          </a:p>
        </p:txBody>
      </p:sp>
      <p:sp>
        <p:nvSpPr>
          <p:cNvPr id="7" name="Text 5"/>
          <p:cNvSpPr txBox="1"/>
          <p:nvPr/>
        </p:nvSpPr>
        <p:spPr>
          <a:xfrm>
            <a:off x="548640" y="3611880"/>
            <a:ext cx="5303520" cy="274320"/>
          </a:xfrm>
          <a:prstGeom prst="rect">
            <a:avLst/>
          </a:prstGeom>
          <a:noFill/>
          <a:ln/>
        </p:spPr>
        <p:txBody>
          <a:bodyPr wrap="square" lIns="0" tIns="0" rIns="0" bIns="0" rtlCol="0" anchor="ctr"/>
          <a:lstStyle/>
          <a:p>
            <a:r>
              <a:rPr lang="en-US" sz="1100" b="1" kern="0" spc="200" dirty="0">
                <a:solidFill>
                  <a:schemeClr val="accent6"/>
                </a:solidFill>
              </a:rPr>
              <a:t>TEAM : </a:t>
            </a:r>
            <a:r>
              <a:rPr lang="en-US" sz="1400" b="1" dirty="0">
                <a:solidFill>
                  <a:schemeClr val="bg1"/>
                </a:solidFill>
              </a:rPr>
              <a:t>Code </a:t>
            </a:r>
            <a:r>
              <a:rPr lang="en-IN" sz="1400" b="1" dirty="0">
                <a:solidFill>
                  <a:schemeClr val="bg1"/>
                </a:solidFill>
              </a:rPr>
              <a:t>Warriors</a:t>
            </a:r>
            <a:endParaRPr lang="en-US" sz="1100" b="1" dirty="0">
              <a:solidFill>
                <a:schemeClr val="bg1"/>
              </a:solidFill>
            </a:endParaRPr>
          </a:p>
        </p:txBody>
      </p:sp>
      <p:sp>
        <p:nvSpPr>
          <p:cNvPr id="8" name="Text 6"/>
          <p:cNvSpPr txBox="1"/>
          <p:nvPr/>
        </p:nvSpPr>
        <p:spPr>
          <a:xfrm>
            <a:off x="548640" y="3886200"/>
            <a:ext cx="5120640" cy="1005840"/>
          </a:xfrm>
          <a:prstGeom prst="rect">
            <a:avLst/>
          </a:prstGeom>
          <a:noFill/>
          <a:ln/>
        </p:spPr>
        <p:txBody>
          <a:bodyPr wrap="square" lIns="0" tIns="0" rIns="0" bIns="0" rtlCol="0" anchor="t"/>
          <a:lstStyle/>
          <a:p>
            <a:pPr>
              <a:spcAft>
                <a:spcPts val="400"/>
              </a:spcAft>
            </a:pPr>
            <a:r>
              <a:rPr lang="en-US" sz="1400" b="1" dirty="0">
                <a:solidFill>
                  <a:schemeClr val="bg1"/>
                </a:solidFill>
              </a:rPr>
              <a:t>KLE Technological University , Belagavi Campus </a:t>
            </a:r>
          </a:p>
          <a:p>
            <a:pPr>
              <a:spcAft>
                <a:spcPts val="400"/>
              </a:spcAft>
            </a:pPr>
            <a:r>
              <a:rPr lang="en-US" sz="1400" b="1" dirty="0">
                <a:solidFill>
                  <a:schemeClr val="bg1"/>
                </a:solidFill>
              </a:rPr>
              <a:t>Karthik Hirenarti </a:t>
            </a:r>
          </a:p>
          <a:p>
            <a:pPr>
              <a:spcAft>
                <a:spcPts val="400"/>
              </a:spcAft>
            </a:pPr>
            <a:r>
              <a:rPr lang="en-US" sz="1400" b="1" dirty="0">
                <a:solidFill>
                  <a:schemeClr val="bg1"/>
                </a:solidFill>
              </a:rPr>
              <a:t>Varshini Kulkarni </a:t>
            </a:r>
          </a:p>
          <a:p>
            <a:pPr>
              <a:spcAft>
                <a:spcPts val="400"/>
              </a:spcAft>
            </a:pPr>
            <a:r>
              <a:rPr lang="en-US" sz="1400" b="1" dirty="0">
                <a:solidFill>
                  <a:schemeClr val="bg1"/>
                </a:solidFill>
              </a:rPr>
              <a:t>Sarvadnya Patil </a:t>
            </a:r>
          </a:p>
          <a:p>
            <a:pPr>
              <a:spcAft>
                <a:spcPts val="400"/>
              </a:spcAft>
            </a:pPr>
            <a:r>
              <a:rPr lang="en-US" sz="1400" b="1" dirty="0">
                <a:solidFill>
                  <a:schemeClr val="bg1"/>
                </a:solidFill>
              </a:rPr>
              <a:t>Abhishek Manoli</a:t>
            </a:r>
            <a:endParaRPr lang="en-US" sz="1400" dirty="0"/>
          </a:p>
        </p:txBody>
      </p:sp>
      <p:sp>
        <p:nvSpPr>
          <p:cNvPr id="9" name="Problem card"/>
          <p:cNvSpPr/>
          <p:nvPr/>
        </p:nvSpPr>
        <p:spPr>
          <a:xfrm>
            <a:off x="6126480" y="548640"/>
            <a:ext cx="5513832" cy="1828800"/>
          </a:xfrm>
          <a:prstGeom prst="roundRect">
            <a:avLst>
              <a:gd name="adj" fmla="val 4000"/>
            </a:avLst>
          </a:prstGeom>
          <a:solidFill>
            <a:schemeClr val="bg1">
              <a:alpha val="9000"/>
            </a:schemeClr>
          </a:solidFill>
          <a:ln/>
        </p:spPr>
      </p:sp>
      <p:sp>
        <p:nvSpPr>
          <p:cNvPr id="10" name="Text 8"/>
          <p:cNvSpPr txBox="1"/>
          <p:nvPr/>
        </p:nvSpPr>
        <p:spPr>
          <a:xfrm>
            <a:off x="6400800" y="731520"/>
            <a:ext cx="5029200" cy="274320"/>
          </a:xfrm>
          <a:prstGeom prst="rect">
            <a:avLst/>
          </a:prstGeom>
          <a:noFill/>
          <a:ln/>
        </p:spPr>
        <p:txBody>
          <a:bodyPr wrap="square" lIns="0" tIns="0" rIns="0" bIns="0" rtlCol="0" anchor="ctr"/>
          <a:lstStyle/>
          <a:p>
            <a:pPr marL="0" indent="0">
              <a:buNone/>
            </a:pPr>
            <a:r>
              <a:rPr lang="en-US" sz="1100" b="1" kern="0" spc="200" dirty="0">
                <a:solidFill>
                  <a:schemeClr val="accent2"/>
                </a:solidFill>
              </a:rPr>
              <a:t>THE PROBLEM</a:t>
            </a:r>
            <a:endParaRPr lang="en-US" sz="1100" dirty="0"/>
          </a:p>
        </p:txBody>
      </p:sp>
      <p:sp>
        <p:nvSpPr>
          <p:cNvPr id="11" name="Text 9"/>
          <p:cNvSpPr txBox="1"/>
          <p:nvPr/>
        </p:nvSpPr>
        <p:spPr>
          <a:xfrm>
            <a:off x="6400800" y="1051560"/>
            <a:ext cx="4983480" cy="1188720"/>
          </a:xfrm>
          <a:prstGeom prst="rect">
            <a:avLst/>
          </a:prstGeom>
          <a:noFill/>
          <a:ln/>
        </p:spPr>
        <p:txBody>
          <a:bodyPr wrap="square" lIns="0" tIns="0" rIns="0" bIns="0" rtlCol="0" anchor="t"/>
          <a:lstStyle/>
          <a:p>
            <a:pPr marL="0" indent="0">
              <a:buNone/>
            </a:pPr>
            <a:r>
              <a:rPr lang="en-US" sz="2000" dirty="0">
                <a:solidFill>
                  <a:schemeClr val="bg1"/>
                </a:solidFill>
                <a:latin typeface="+mj-lt" pitchFamily="34" charset="0"/>
                <a:ea typeface="+mj-lt" pitchFamily="34" charset="-122"/>
                <a:cs typeface="+mj-lt" pitchFamily="34" charset="-120"/>
              </a:rPr>
              <a:t>Hospitals lack a simple, explainable way to identify which patients are most likely to be readmitted  before they are discharged.</a:t>
            </a:r>
            <a:endParaRPr lang="en-US" sz="2000" dirty="0"/>
          </a:p>
        </p:txBody>
      </p:sp>
      <p:sp>
        <p:nvSpPr>
          <p:cNvPr id="12" name="Text 10"/>
          <p:cNvSpPr txBox="1"/>
          <p:nvPr/>
        </p:nvSpPr>
        <p:spPr>
          <a:xfrm>
            <a:off x="6126480" y="2606040"/>
            <a:ext cx="5029200" cy="274320"/>
          </a:xfrm>
          <a:prstGeom prst="rect">
            <a:avLst/>
          </a:prstGeom>
          <a:noFill/>
          <a:ln/>
        </p:spPr>
        <p:txBody>
          <a:bodyPr wrap="square" lIns="0" tIns="0" rIns="0" bIns="0" rtlCol="0" anchor="ctr"/>
          <a:lstStyle/>
          <a:p>
            <a:pPr marL="0" indent="0">
              <a:buNone/>
            </a:pPr>
            <a:r>
              <a:rPr lang="en-US" sz="1100" b="1" kern="0" spc="200" dirty="0">
                <a:solidFill>
                  <a:schemeClr val="accent6"/>
                </a:solidFill>
              </a:rPr>
              <a:t>WHY IT MATTERS</a:t>
            </a:r>
            <a:endParaRPr lang="en-US" sz="1100" dirty="0"/>
          </a:p>
        </p:txBody>
      </p:sp>
      <p:sp>
        <p:nvSpPr>
          <p:cNvPr id="13" name="Why Patient outcomes"/>
          <p:cNvSpPr/>
          <p:nvPr/>
        </p:nvSpPr>
        <p:spPr>
          <a:xfrm>
            <a:off x="6126480" y="2926080"/>
            <a:ext cx="5513832" cy="621792"/>
          </a:xfrm>
          <a:prstGeom prst="roundRect">
            <a:avLst>
              <a:gd name="adj" fmla="val 11765"/>
            </a:avLst>
          </a:prstGeom>
          <a:solidFill>
            <a:schemeClr val="bg1">
              <a:alpha val="6000"/>
            </a:schemeClr>
          </a:solidFill>
          <a:ln/>
        </p:spPr>
      </p:sp>
      <p:sp>
        <p:nvSpPr>
          <p:cNvPr id="14" name="Text 12"/>
          <p:cNvSpPr txBox="1"/>
          <p:nvPr/>
        </p:nvSpPr>
        <p:spPr>
          <a:xfrm>
            <a:off x="6309360" y="2926080"/>
            <a:ext cx="1920240" cy="621792"/>
          </a:xfrm>
          <a:prstGeom prst="rect">
            <a:avLst/>
          </a:prstGeom>
          <a:noFill/>
          <a:ln/>
        </p:spPr>
        <p:txBody>
          <a:bodyPr wrap="square" lIns="0" tIns="0" rIns="0" bIns="0" rtlCol="0" anchor="ctr"/>
          <a:lstStyle/>
          <a:p>
            <a:pPr marL="0" indent="0">
              <a:buNone/>
            </a:pPr>
            <a:r>
              <a:rPr lang="en-US" sz="1400" b="1" dirty="0">
                <a:solidFill>
                  <a:schemeClr val="accent2"/>
                </a:solidFill>
              </a:rPr>
              <a:t>Patient outcomes</a:t>
            </a:r>
            <a:endParaRPr lang="en-US" sz="1400" dirty="0"/>
          </a:p>
        </p:txBody>
      </p:sp>
      <p:sp>
        <p:nvSpPr>
          <p:cNvPr id="15" name="Text 13"/>
          <p:cNvSpPr txBox="1"/>
          <p:nvPr/>
        </p:nvSpPr>
        <p:spPr>
          <a:xfrm>
            <a:off x="8229600" y="2926080"/>
            <a:ext cx="3291840" cy="621792"/>
          </a:xfrm>
          <a:prstGeom prst="rect">
            <a:avLst/>
          </a:prstGeom>
          <a:noFill/>
          <a:ln/>
        </p:spPr>
        <p:txBody>
          <a:bodyPr wrap="square" lIns="0" tIns="0" rIns="0" bIns="0" rtlCol="0" anchor="ctr"/>
          <a:lstStyle/>
          <a:p>
            <a:pPr marL="0" indent="0">
              <a:buNone/>
            </a:pPr>
            <a:r>
              <a:rPr lang="en-US" sz="1300" dirty="0">
                <a:solidFill>
                  <a:schemeClr val="bg1"/>
                </a:solidFill>
              </a:rPr>
              <a:t>Unplanned readmissions often signal gaps in follow-up care</a:t>
            </a:r>
            <a:endParaRPr lang="en-US" sz="1300" dirty="0"/>
          </a:p>
        </p:txBody>
      </p:sp>
      <p:sp>
        <p:nvSpPr>
          <p:cNvPr id="16" name="Why Hospital capacity"/>
          <p:cNvSpPr/>
          <p:nvPr/>
        </p:nvSpPr>
        <p:spPr>
          <a:xfrm>
            <a:off x="6126480" y="3639312"/>
            <a:ext cx="5513832" cy="621792"/>
          </a:xfrm>
          <a:prstGeom prst="roundRect">
            <a:avLst>
              <a:gd name="adj" fmla="val 11765"/>
            </a:avLst>
          </a:prstGeom>
          <a:solidFill>
            <a:schemeClr val="bg1">
              <a:alpha val="6000"/>
            </a:schemeClr>
          </a:solidFill>
          <a:ln/>
        </p:spPr>
      </p:sp>
      <p:sp>
        <p:nvSpPr>
          <p:cNvPr id="17" name="Text 15"/>
          <p:cNvSpPr txBox="1"/>
          <p:nvPr/>
        </p:nvSpPr>
        <p:spPr>
          <a:xfrm>
            <a:off x="6309360" y="3639312"/>
            <a:ext cx="1920240" cy="621792"/>
          </a:xfrm>
          <a:prstGeom prst="rect">
            <a:avLst/>
          </a:prstGeom>
          <a:noFill/>
          <a:ln/>
        </p:spPr>
        <p:txBody>
          <a:bodyPr wrap="square" lIns="0" tIns="0" rIns="0" bIns="0" rtlCol="0" anchor="ctr"/>
          <a:lstStyle/>
          <a:p>
            <a:pPr marL="0" indent="0">
              <a:buNone/>
            </a:pPr>
            <a:r>
              <a:rPr lang="en-US" sz="1400" b="1" dirty="0">
                <a:solidFill>
                  <a:schemeClr val="accent2"/>
                </a:solidFill>
              </a:rPr>
              <a:t>Hospital capacity</a:t>
            </a:r>
            <a:endParaRPr lang="en-US" sz="1400" dirty="0"/>
          </a:p>
        </p:txBody>
      </p:sp>
      <p:sp>
        <p:nvSpPr>
          <p:cNvPr id="18" name="Text 16"/>
          <p:cNvSpPr txBox="1"/>
          <p:nvPr/>
        </p:nvSpPr>
        <p:spPr>
          <a:xfrm>
            <a:off x="8229600" y="3639312"/>
            <a:ext cx="3291840" cy="621792"/>
          </a:xfrm>
          <a:prstGeom prst="rect">
            <a:avLst/>
          </a:prstGeom>
          <a:noFill/>
          <a:ln/>
        </p:spPr>
        <p:txBody>
          <a:bodyPr wrap="square" lIns="0" tIns="0" rIns="0" bIns="0" rtlCol="0" anchor="ctr"/>
          <a:lstStyle/>
          <a:p>
            <a:pPr marL="0" indent="0">
              <a:buNone/>
            </a:pPr>
            <a:r>
              <a:rPr lang="en-US" sz="1300" dirty="0">
                <a:solidFill>
                  <a:schemeClr val="bg1"/>
                </a:solidFill>
              </a:rPr>
              <a:t>Readmissions consume beds, staff time and resources</a:t>
            </a:r>
            <a:endParaRPr lang="en-US" sz="1300" dirty="0"/>
          </a:p>
        </p:txBody>
      </p:sp>
      <p:sp>
        <p:nvSpPr>
          <p:cNvPr id="19" name="Why Quality accountability"/>
          <p:cNvSpPr/>
          <p:nvPr/>
        </p:nvSpPr>
        <p:spPr>
          <a:xfrm>
            <a:off x="6126480" y="4352544"/>
            <a:ext cx="5513832" cy="621792"/>
          </a:xfrm>
          <a:prstGeom prst="roundRect">
            <a:avLst>
              <a:gd name="adj" fmla="val 11765"/>
            </a:avLst>
          </a:prstGeom>
          <a:solidFill>
            <a:schemeClr val="bg1">
              <a:alpha val="6000"/>
            </a:schemeClr>
          </a:solidFill>
          <a:ln/>
        </p:spPr>
      </p:sp>
      <p:sp>
        <p:nvSpPr>
          <p:cNvPr id="20" name="Text 18"/>
          <p:cNvSpPr txBox="1"/>
          <p:nvPr/>
        </p:nvSpPr>
        <p:spPr>
          <a:xfrm>
            <a:off x="6309360" y="4352544"/>
            <a:ext cx="1920240" cy="621792"/>
          </a:xfrm>
          <a:prstGeom prst="rect">
            <a:avLst/>
          </a:prstGeom>
          <a:noFill/>
          <a:ln/>
        </p:spPr>
        <p:txBody>
          <a:bodyPr wrap="square" lIns="0" tIns="0" rIns="0" bIns="0" rtlCol="0" anchor="ctr"/>
          <a:lstStyle/>
          <a:p>
            <a:pPr marL="0" indent="0">
              <a:buNone/>
            </a:pPr>
            <a:r>
              <a:rPr lang="en-US" sz="1400" b="1" dirty="0">
                <a:solidFill>
                  <a:schemeClr val="accent2"/>
                </a:solidFill>
              </a:rPr>
              <a:t>Quality accountability</a:t>
            </a:r>
            <a:endParaRPr lang="en-US" sz="1400" dirty="0"/>
          </a:p>
        </p:txBody>
      </p:sp>
      <p:sp>
        <p:nvSpPr>
          <p:cNvPr id="21" name="Text 19"/>
          <p:cNvSpPr txBox="1"/>
          <p:nvPr/>
        </p:nvSpPr>
        <p:spPr>
          <a:xfrm>
            <a:off x="8229600" y="4352544"/>
            <a:ext cx="3291840" cy="621792"/>
          </a:xfrm>
          <a:prstGeom prst="rect">
            <a:avLst/>
          </a:prstGeom>
          <a:noFill/>
          <a:ln/>
        </p:spPr>
        <p:txBody>
          <a:bodyPr wrap="square" lIns="0" tIns="0" rIns="0" bIns="0" rtlCol="0" anchor="ctr"/>
          <a:lstStyle/>
          <a:p>
            <a:pPr marL="0" indent="0">
              <a:buNone/>
            </a:pPr>
            <a:r>
              <a:rPr lang="en-US" sz="1300" dirty="0">
                <a:solidFill>
                  <a:schemeClr val="bg1"/>
                </a:solidFill>
              </a:rPr>
              <a:t>A recognised hospital quality measure </a:t>
            </a:r>
          </a:p>
          <a:p>
            <a:pPr marL="0" indent="0">
              <a:buNone/>
            </a:pPr>
            <a:r>
              <a:rPr lang="en-US" sz="1300" dirty="0">
                <a:solidFill>
                  <a:schemeClr val="bg1"/>
                </a:solidFill>
              </a:rPr>
              <a:t>(e.g. US CMS HRRP)</a:t>
            </a:r>
            <a:endParaRPr lang="en-US" sz="1300" dirty="0"/>
          </a:p>
        </p:txBody>
      </p:sp>
      <p:sp>
        <p:nvSpPr>
          <p:cNvPr id="22" name="Journey Admission"/>
          <p:cNvSpPr/>
          <p:nvPr/>
        </p:nvSpPr>
        <p:spPr>
          <a:xfrm>
            <a:off x="548640" y="5349240"/>
            <a:ext cx="2377440" cy="548640"/>
          </a:xfrm>
          <a:prstGeom prst="roundRect">
            <a:avLst>
              <a:gd name="adj" fmla="val 50000"/>
            </a:avLst>
          </a:prstGeom>
          <a:solidFill>
            <a:schemeClr val="bg1">
              <a:alpha val="10000"/>
            </a:schemeClr>
          </a:solidFill>
          <a:ln w="9525">
            <a:solidFill>
              <a:schemeClr val="accent6"/>
            </a:solidFill>
            <a:prstDash val="solid"/>
          </a:ln>
        </p:spPr>
      </p:sp>
      <p:sp>
        <p:nvSpPr>
          <p:cNvPr id="23" name="Text 21"/>
          <p:cNvSpPr txBox="1"/>
          <p:nvPr/>
        </p:nvSpPr>
        <p:spPr>
          <a:xfrm>
            <a:off x="548640" y="5349240"/>
            <a:ext cx="2377440" cy="548640"/>
          </a:xfrm>
          <a:prstGeom prst="rect">
            <a:avLst/>
          </a:prstGeom>
          <a:noFill/>
          <a:ln/>
        </p:spPr>
        <p:txBody>
          <a:bodyPr wrap="square" lIns="0" tIns="0" rIns="0" bIns="0" rtlCol="0" anchor="ctr"/>
          <a:lstStyle/>
          <a:p>
            <a:pPr marL="0" indent="0" algn="ctr">
              <a:buNone/>
            </a:pPr>
            <a:r>
              <a:rPr lang="en-US" sz="1500" b="1" dirty="0">
                <a:solidFill>
                  <a:schemeClr val="bg1"/>
                </a:solidFill>
              </a:rPr>
              <a:t>Admission</a:t>
            </a:r>
            <a:endParaRPr lang="en-US" sz="1500" dirty="0"/>
          </a:p>
        </p:txBody>
      </p:sp>
      <p:sp>
        <p:nvSpPr>
          <p:cNvPr id="24" name="Shape 22"/>
          <p:cNvSpPr/>
          <p:nvPr/>
        </p:nvSpPr>
        <p:spPr>
          <a:xfrm>
            <a:off x="2990088" y="5623560"/>
            <a:ext cx="402336" cy="0"/>
          </a:xfrm>
          <a:prstGeom prst="line">
            <a:avLst/>
          </a:prstGeom>
          <a:noFill/>
          <a:ln w="19050">
            <a:solidFill>
              <a:schemeClr val="accent6"/>
            </a:solidFill>
            <a:prstDash val="solid"/>
            <a:tailEnd type="triangle"/>
          </a:ln>
        </p:spPr>
      </p:sp>
      <p:sp>
        <p:nvSpPr>
          <p:cNvPr id="25" name="Journey Treatment"/>
          <p:cNvSpPr/>
          <p:nvPr/>
        </p:nvSpPr>
        <p:spPr>
          <a:xfrm>
            <a:off x="3453689" y="5349240"/>
            <a:ext cx="2377440" cy="548640"/>
          </a:xfrm>
          <a:prstGeom prst="roundRect">
            <a:avLst>
              <a:gd name="adj" fmla="val 50000"/>
            </a:avLst>
          </a:prstGeom>
          <a:solidFill>
            <a:schemeClr val="bg1">
              <a:alpha val="10000"/>
            </a:schemeClr>
          </a:solidFill>
          <a:ln w="9525">
            <a:solidFill>
              <a:schemeClr val="accent6"/>
            </a:solidFill>
            <a:prstDash val="solid"/>
          </a:ln>
        </p:spPr>
      </p:sp>
      <p:sp>
        <p:nvSpPr>
          <p:cNvPr id="26" name="Text 24"/>
          <p:cNvSpPr txBox="1"/>
          <p:nvPr/>
        </p:nvSpPr>
        <p:spPr>
          <a:xfrm>
            <a:off x="3453689" y="5349240"/>
            <a:ext cx="2377440" cy="548640"/>
          </a:xfrm>
          <a:prstGeom prst="rect">
            <a:avLst/>
          </a:prstGeom>
          <a:noFill/>
          <a:ln/>
        </p:spPr>
        <p:txBody>
          <a:bodyPr wrap="square" lIns="0" tIns="0" rIns="0" bIns="0" rtlCol="0" anchor="ctr"/>
          <a:lstStyle/>
          <a:p>
            <a:pPr marL="0" indent="0" algn="ctr">
              <a:buNone/>
            </a:pPr>
            <a:r>
              <a:rPr lang="en-US" sz="1500" b="1" dirty="0">
                <a:solidFill>
                  <a:schemeClr val="bg1"/>
                </a:solidFill>
              </a:rPr>
              <a:t>Treatment</a:t>
            </a:r>
            <a:endParaRPr lang="en-US" sz="1500" dirty="0"/>
          </a:p>
        </p:txBody>
      </p:sp>
      <p:sp>
        <p:nvSpPr>
          <p:cNvPr id="27" name="Shape 25"/>
          <p:cNvSpPr/>
          <p:nvPr/>
        </p:nvSpPr>
        <p:spPr>
          <a:xfrm>
            <a:off x="5895137" y="5623560"/>
            <a:ext cx="402336" cy="0"/>
          </a:xfrm>
          <a:prstGeom prst="line">
            <a:avLst/>
          </a:prstGeom>
          <a:noFill/>
          <a:ln w="19050">
            <a:solidFill>
              <a:schemeClr val="accent6"/>
            </a:solidFill>
            <a:prstDash val="solid"/>
            <a:tailEnd type="triangle"/>
          </a:ln>
        </p:spPr>
      </p:sp>
      <p:sp>
        <p:nvSpPr>
          <p:cNvPr id="28" name="Journey Discharge"/>
          <p:cNvSpPr/>
          <p:nvPr/>
        </p:nvSpPr>
        <p:spPr>
          <a:xfrm>
            <a:off x="6358738" y="5349240"/>
            <a:ext cx="2377440" cy="548640"/>
          </a:xfrm>
          <a:prstGeom prst="roundRect">
            <a:avLst>
              <a:gd name="adj" fmla="val 50000"/>
            </a:avLst>
          </a:prstGeom>
          <a:solidFill>
            <a:schemeClr val="accent4"/>
          </a:solidFill>
          <a:ln/>
        </p:spPr>
      </p:sp>
      <p:sp>
        <p:nvSpPr>
          <p:cNvPr id="29" name="Text 27"/>
          <p:cNvSpPr txBox="1"/>
          <p:nvPr/>
        </p:nvSpPr>
        <p:spPr>
          <a:xfrm>
            <a:off x="6358738" y="5349240"/>
            <a:ext cx="2377440" cy="548640"/>
          </a:xfrm>
          <a:prstGeom prst="rect">
            <a:avLst/>
          </a:prstGeom>
          <a:noFill/>
          <a:ln/>
        </p:spPr>
        <p:txBody>
          <a:bodyPr wrap="square" lIns="0" tIns="0" rIns="0" bIns="0" rtlCol="0" anchor="ctr"/>
          <a:lstStyle/>
          <a:p>
            <a:pPr marL="0" indent="0" algn="ctr">
              <a:buNone/>
            </a:pPr>
            <a:r>
              <a:rPr lang="en-US" sz="1500" b="1" dirty="0">
                <a:solidFill>
                  <a:schemeClr val="bg1"/>
                </a:solidFill>
              </a:rPr>
              <a:t>Discharge</a:t>
            </a:r>
            <a:endParaRPr lang="en-US" sz="1500" dirty="0"/>
          </a:p>
        </p:txBody>
      </p:sp>
      <p:sp>
        <p:nvSpPr>
          <p:cNvPr id="30" name="Shape 28"/>
          <p:cNvSpPr/>
          <p:nvPr/>
        </p:nvSpPr>
        <p:spPr>
          <a:xfrm>
            <a:off x="8800186" y="5623560"/>
            <a:ext cx="402336" cy="0"/>
          </a:xfrm>
          <a:prstGeom prst="line">
            <a:avLst/>
          </a:prstGeom>
          <a:noFill/>
          <a:ln w="19050">
            <a:solidFill>
              <a:schemeClr val="accent6"/>
            </a:solidFill>
            <a:prstDash val="solid"/>
            <a:tailEnd type="triangle"/>
          </a:ln>
        </p:spPr>
      </p:sp>
      <p:sp>
        <p:nvSpPr>
          <p:cNvPr id="31" name="Journey Readmission?"/>
          <p:cNvSpPr/>
          <p:nvPr/>
        </p:nvSpPr>
        <p:spPr>
          <a:xfrm>
            <a:off x="9263786" y="5349240"/>
            <a:ext cx="2377440" cy="548640"/>
          </a:xfrm>
          <a:prstGeom prst="roundRect">
            <a:avLst>
              <a:gd name="adj" fmla="val 50000"/>
            </a:avLst>
          </a:prstGeom>
          <a:solidFill>
            <a:schemeClr val="bg1">
              <a:alpha val="10000"/>
            </a:schemeClr>
          </a:solidFill>
          <a:ln w="9525">
            <a:solidFill>
              <a:schemeClr val="accent6"/>
            </a:solidFill>
            <a:prstDash val="solid"/>
          </a:ln>
        </p:spPr>
      </p:sp>
      <p:sp>
        <p:nvSpPr>
          <p:cNvPr id="32" name="Text 30"/>
          <p:cNvSpPr txBox="1"/>
          <p:nvPr/>
        </p:nvSpPr>
        <p:spPr>
          <a:xfrm>
            <a:off x="9263786" y="5349240"/>
            <a:ext cx="2377440" cy="548640"/>
          </a:xfrm>
          <a:prstGeom prst="rect">
            <a:avLst/>
          </a:prstGeom>
          <a:noFill/>
          <a:ln/>
        </p:spPr>
        <p:txBody>
          <a:bodyPr wrap="square" lIns="0" tIns="0" rIns="0" bIns="0" rtlCol="0" anchor="ctr"/>
          <a:lstStyle/>
          <a:p>
            <a:pPr marL="0" indent="0" algn="ctr">
              <a:buNone/>
            </a:pPr>
            <a:r>
              <a:rPr lang="en-US" sz="1500" b="1" dirty="0">
                <a:solidFill>
                  <a:schemeClr val="bg1"/>
                </a:solidFill>
              </a:rPr>
              <a:t>Readmission?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02  ·  PROPOSED SOLUTION</a:t>
            </a:r>
            <a:endParaRPr lang="en-US" sz="1200" dirty="0"/>
          </a:p>
        </p:txBody>
      </p:sp>
      <p:sp>
        <p:nvSpPr>
          <p:cNvPr id="3" name="Text 0"/>
          <p:cNvSpPr>
            <a:spLocks noGrp="1"/>
          </p:cNvSpPr>
          <p:nvPr>
            <p:ph type="title" idx="101" hasCustomPrompt="1"/>
          </p:nvPr>
        </p:nvSpPr>
        <p:spPr>
          <a:xfrm>
            <a:off x="548640" y="621792"/>
            <a:ext cx="11091672" cy="658368"/>
          </a:xfrm>
          <a:prstGeom prst="rect">
            <a:avLst/>
          </a:prstGeom>
          <a:noFill/>
          <a:ln/>
        </p:spPr>
        <p:txBody>
          <a:bodyPr wrap="square" lIns="0" tIns="0" rIns="0" bIns="0" rtlCol="0" anchor="ctr"/>
          <a:lstStyle/>
          <a:p>
            <a:pPr marL="0" indent="0" algn="l">
              <a:buNone/>
            </a:pPr>
            <a:r>
              <a:rPr lang="en-US" sz="3400" b="1" dirty="0">
                <a:solidFill>
                  <a:schemeClr val="tx2"/>
                </a:solidFill>
              </a:rPr>
              <a:t>An Explainable Readmission Risk Assistant</a:t>
            </a:r>
            <a:endParaRPr lang="en-US" sz="3400" dirty="0"/>
          </a:p>
        </p:txBody>
      </p:sp>
      <p:sp>
        <p:nvSpPr>
          <p:cNvPr id="4" name="Text 2"/>
          <p:cNvSpPr txBox="1"/>
          <p:nvPr/>
        </p:nvSpPr>
        <p:spPr>
          <a:xfrm>
            <a:off x="548640" y="1325880"/>
            <a:ext cx="11064240" cy="365760"/>
          </a:xfrm>
          <a:prstGeom prst="rect">
            <a:avLst/>
          </a:prstGeom>
          <a:noFill/>
          <a:ln/>
        </p:spPr>
        <p:txBody>
          <a:bodyPr wrap="square" lIns="0" tIns="0" rIns="0" bIns="0" rtlCol="0" anchor="ctr"/>
          <a:lstStyle/>
          <a:p>
            <a:pPr marL="0" indent="0">
              <a:buNone/>
            </a:pPr>
            <a:r>
              <a:rPr lang="en-US" sz="1600" i="1" dirty="0">
                <a:solidFill>
                  <a:schemeClr val="accent6"/>
                </a:solidFill>
              </a:rPr>
              <a:t>An AI clinical decision-support system that estimates a patient's readmission probability before discharge  and explains why.</a:t>
            </a:r>
            <a:endParaRPr lang="en-US" sz="1600" dirty="0"/>
          </a:p>
        </p:txBody>
      </p:sp>
      <p:sp>
        <p:nvSpPr>
          <p:cNvPr id="5" name="Flow Patient data"/>
          <p:cNvSpPr/>
          <p:nvPr/>
        </p:nvSpPr>
        <p:spPr>
          <a:xfrm>
            <a:off x="548640" y="1874520"/>
            <a:ext cx="1353312" cy="777240"/>
          </a:xfrm>
          <a:prstGeom prst="roundRect">
            <a:avLst>
              <a:gd name="adj" fmla="val 9412"/>
            </a:avLst>
          </a:prstGeom>
          <a:solidFill>
            <a:schemeClr val="accent1"/>
          </a:solidFill>
          <a:ln/>
        </p:spPr>
      </p:sp>
      <p:sp>
        <p:nvSpPr>
          <p:cNvPr id="6" name="Text 4"/>
          <p:cNvSpPr txBox="1"/>
          <p:nvPr/>
        </p:nvSpPr>
        <p:spPr>
          <a:xfrm>
            <a:off x="640080" y="1874520"/>
            <a:ext cx="1170432" cy="777240"/>
          </a:xfrm>
          <a:prstGeom prst="rect">
            <a:avLst/>
          </a:prstGeom>
          <a:noFill/>
          <a:ln/>
        </p:spPr>
        <p:txBody>
          <a:bodyPr wrap="square" lIns="0" tIns="0" rIns="0" bIns="0" rtlCol="0" anchor="ctr"/>
          <a:lstStyle/>
          <a:p>
            <a:pPr marL="0" indent="0">
              <a:buNone/>
            </a:pPr>
            <a:r>
              <a:rPr lang="en-US" sz="1100" b="1" dirty="0">
                <a:solidFill>
                  <a:schemeClr val="accent2"/>
                </a:solidFill>
              </a:rPr>
              <a:t>1</a:t>
            </a:r>
            <a:endParaRPr lang="en-US" sz="1100" dirty="0"/>
          </a:p>
          <a:p>
            <a:pPr marL="0" indent="0">
              <a:buNone/>
            </a:pPr>
            <a:r>
              <a:rPr lang="en-US" sz="1300" b="1" dirty="0">
                <a:solidFill>
                  <a:schemeClr val="bg1"/>
                </a:solidFill>
              </a:rPr>
              <a:t>Patient data</a:t>
            </a:r>
            <a:endParaRPr lang="en-US" sz="1100" dirty="0"/>
          </a:p>
        </p:txBody>
      </p:sp>
      <p:sp>
        <p:nvSpPr>
          <p:cNvPr id="7" name="Text 5"/>
          <p:cNvSpPr txBox="1"/>
          <p:nvPr/>
        </p:nvSpPr>
        <p:spPr>
          <a:xfrm>
            <a:off x="1901952" y="1874520"/>
            <a:ext cx="182880" cy="777240"/>
          </a:xfrm>
          <a:prstGeom prst="rect">
            <a:avLst/>
          </a:prstGeom>
          <a:noFill/>
          <a:ln/>
        </p:spPr>
        <p:txBody>
          <a:bodyPr wrap="square" lIns="0" tIns="0" rIns="0" bIns="0" rtlCol="0" anchor="ctr"/>
          <a:lstStyle/>
          <a:p>
            <a:pPr marL="0" indent="0" algn="ctr">
              <a:buNone/>
            </a:pPr>
            <a:r>
              <a:rPr lang="en-US" sz="2000" b="1" dirty="0">
                <a:solidFill>
                  <a:schemeClr val="accent6"/>
                </a:solidFill>
              </a:rPr>
              <a:t>›</a:t>
            </a:r>
            <a:endParaRPr lang="en-US" sz="2000" dirty="0"/>
          </a:p>
        </p:txBody>
      </p:sp>
      <p:sp>
        <p:nvSpPr>
          <p:cNvPr id="8" name="Flow Preprocess"/>
          <p:cNvSpPr/>
          <p:nvPr/>
        </p:nvSpPr>
        <p:spPr>
          <a:xfrm>
            <a:off x="2084832" y="1874520"/>
            <a:ext cx="1353312" cy="777240"/>
          </a:xfrm>
          <a:prstGeom prst="roundRect">
            <a:avLst>
              <a:gd name="adj" fmla="val 9412"/>
            </a:avLst>
          </a:prstGeom>
          <a:solidFill>
            <a:schemeClr val="accent1"/>
          </a:solidFill>
          <a:ln/>
        </p:spPr>
      </p:sp>
      <p:sp>
        <p:nvSpPr>
          <p:cNvPr id="9" name="Text 7"/>
          <p:cNvSpPr txBox="1"/>
          <p:nvPr/>
        </p:nvSpPr>
        <p:spPr>
          <a:xfrm>
            <a:off x="2176272" y="1874520"/>
            <a:ext cx="1170432" cy="777240"/>
          </a:xfrm>
          <a:prstGeom prst="rect">
            <a:avLst/>
          </a:prstGeom>
          <a:noFill/>
          <a:ln/>
        </p:spPr>
        <p:txBody>
          <a:bodyPr wrap="square" lIns="0" tIns="0" rIns="0" bIns="0" rtlCol="0" anchor="ctr"/>
          <a:lstStyle/>
          <a:p>
            <a:pPr marL="0" indent="0">
              <a:buNone/>
            </a:pPr>
            <a:r>
              <a:rPr lang="en-US" sz="1100" b="1" dirty="0">
                <a:solidFill>
                  <a:schemeClr val="accent2"/>
                </a:solidFill>
              </a:rPr>
              <a:t>2</a:t>
            </a:r>
            <a:endParaRPr lang="en-US" sz="1100" dirty="0"/>
          </a:p>
          <a:p>
            <a:pPr marL="0" indent="0">
              <a:buNone/>
            </a:pPr>
            <a:r>
              <a:rPr lang="en-US" sz="1300" b="1" dirty="0">
                <a:solidFill>
                  <a:schemeClr val="bg1"/>
                </a:solidFill>
              </a:rPr>
              <a:t>Preprocess</a:t>
            </a:r>
            <a:endParaRPr lang="en-US" sz="1100" dirty="0"/>
          </a:p>
        </p:txBody>
      </p:sp>
      <p:sp>
        <p:nvSpPr>
          <p:cNvPr id="10" name="Text 8"/>
          <p:cNvSpPr txBox="1"/>
          <p:nvPr/>
        </p:nvSpPr>
        <p:spPr>
          <a:xfrm>
            <a:off x="3438144" y="1874520"/>
            <a:ext cx="182880" cy="777240"/>
          </a:xfrm>
          <a:prstGeom prst="rect">
            <a:avLst/>
          </a:prstGeom>
          <a:noFill/>
          <a:ln/>
        </p:spPr>
        <p:txBody>
          <a:bodyPr wrap="square" lIns="0" tIns="0" rIns="0" bIns="0" rtlCol="0" anchor="ctr"/>
          <a:lstStyle/>
          <a:p>
            <a:pPr marL="0" indent="0" algn="ctr">
              <a:buNone/>
            </a:pPr>
            <a:r>
              <a:rPr lang="en-US" sz="2000" b="1" dirty="0">
                <a:solidFill>
                  <a:schemeClr val="accent6"/>
                </a:solidFill>
              </a:rPr>
              <a:t>›</a:t>
            </a:r>
            <a:endParaRPr lang="en-US" sz="2000" dirty="0"/>
          </a:p>
        </p:txBody>
      </p:sp>
      <p:sp>
        <p:nvSpPr>
          <p:cNvPr id="11" name="Flow ML probability"/>
          <p:cNvSpPr/>
          <p:nvPr/>
        </p:nvSpPr>
        <p:spPr>
          <a:xfrm>
            <a:off x="3621024" y="1874520"/>
            <a:ext cx="1353312" cy="777240"/>
          </a:xfrm>
          <a:prstGeom prst="roundRect">
            <a:avLst>
              <a:gd name="adj" fmla="val 9412"/>
            </a:avLst>
          </a:prstGeom>
          <a:solidFill>
            <a:schemeClr val="accent1"/>
          </a:solidFill>
          <a:ln/>
        </p:spPr>
      </p:sp>
      <p:sp>
        <p:nvSpPr>
          <p:cNvPr id="12" name="Text 10"/>
          <p:cNvSpPr txBox="1"/>
          <p:nvPr/>
        </p:nvSpPr>
        <p:spPr>
          <a:xfrm>
            <a:off x="3712464" y="1874520"/>
            <a:ext cx="1170432" cy="777240"/>
          </a:xfrm>
          <a:prstGeom prst="rect">
            <a:avLst/>
          </a:prstGeom>
          <a:noFill/>
          <a:ln/>
        </p:spPr>
        <p:txBody>
          <a:bodyPr wrap="square" lIns="0" tIns="0" rIns="0" bIns="0" rtlCol="0" anchor="ctr"/>
          <a:lstStyle/>
          <a:p>
            <a:pPr marL="0" indent="0">
              <a:buNone/>
            </a:pPr>
            <a:r>
              <a:rPr lang="en-US" sz="1100" b="1" dirty="0">
                <a:solidFill>
                  <a:schemeClr val="accent2"/>
                </a:solidFill>
              </a:rPr>
              <a:t>3</a:t>
            </a:r>
            <a:endParaRPr lang="en-US" sz="1100" dirty="0"/>
          </a:p>
          <a:p>
            <a:pPr marL="0" indent="0">
              <a:buNone/>
            </a:pPr>
            <a:r>
              <a:rPr lang="en-US" sz="1300" b="1" dirty="0">
                <a:solidFill>
                  <a:schemeClr val="bg1"/>
                </a:solidFill>
              </a:rPr>
              <a:t>ML probability</a:t>
            </a:r>
            <a:endParaRPr lang="en-US" sz="1100" dirty="0"/>
          </a:p>
        </p:txBody>
      </p:sp>
      <p:sp>
        <p:nvSpPr>
          <p:cNvPr id="13" name="Text 11"/>
          <p:cNvSpPr txBox="1"/>
          <p:nvPr/>
        </p:nvSpPr>
        <p:spPr>
          <a:xfrm>
            <a:off x="4974336" y="1874520"/>
            <a:ext cx="182880" cy="777240"/>
          </a:xfrm>
          <a:prstGeom prst="rect">
            <a:avLst/>
          </a:prstGeom>
          <a:noFill/>
          <a:ln/>
        </p:spPr>
        <p:txBody>
          <a:bodyPr wrap="square" lIns="0" tIns="0" rIns="0" bIns="0" rtlCol="0" anchor="ctr"/>
          <a:lstStyle/>
          <a:p>
            <a:pPr marL="0" indent="0" algn="ctr">
              <a:buNone/>
            </a:pPr>
            <a:r>
              <a:rPr lang="en-US" sz="2000" b="1" dirty="0">
                <a:solidFill>
                  <a:schemeClr val="accent6"/>
                </a:solidFill>
              </a:rPr>
              <a:t>›</a:t>
            </a:r>
            <a:endParaRPr lang="en-US" sz="2000" dirty="0"/>
          </a:p>
        </p:txBody>
      </p:sp>
      <p:sp>
        <p:nvSpPr>
          <p:cNvPr id="14" name="Flow LOW / MED / HIGH"/>
          <p:cNvSpPr/>
          <p:nvPr/>
        </p:nvSpPr>
        <p:spPr>
          <a:xfrm>
            <a:off x="5157216" y="1874520"/>
            <a:ext cx="1353312" cy="777240"/>
          </a:xfrm>
          <a:prstGeom prst="roundRect">
            <a:avLst>
              <a:gd name="adj" fmla="val 9412"/>
            </a:avLst>
          </a:prstGeom>
          <a:solidFill>
            <a:schemeClr val="accent1"/>
          </a:solidFill>
          <a:ln/>
        </p:spPr>
      </p:sp>
      <p:sp>
        <p:nvSpPr>
          <p:cNvPr id="15" name="Text 13"/>
          <p:cNvSpPr txBox="1"/>
          <p:nvPr/>
        </p:nvSpPr>
        <p:spPr>
          <a:xfrm>
            <a:off x="5248656" y="1874520"/>
            <a:ext cx="1170432" cy="777240"/>
          </a:xfrm>
          <a:prstGeom prst="rect">
            <a:avLst/>
          </a:prstGeom>
          <a:noFill/>
          <a:ln/>
        </p:spPr>
        <p:txBody>
          <a:bodyPr wrap="square" lIns="0" tIns="0" rIns="0" bIns="0" rtlCol="0" anchor="ctr"/>
          <a:lstStyle/>
          <a:p>
            <a:pPr marL="0" indent="0">
              <a:buNone/>
            </a:pPr>
            <a:r>
              <a:rPr lang="en-US" sz="1100" b="1" dirty="0">
                <a:solidFill>
                  <a:schemeClr val="accent2"/>
                </a:solidFill>
              </a:rPr>
              <a:t>4</a:t>
            </a:r>
            <a:endParaRPr lang="en-US" sz="1100" dirty="0"/>
          </a:p>
          <a:p>
            <a:pPr marL="0" indent="0">
              <a:buNone/>
            </a:pPr>
            <a:r>
              <a:rPr lang="en-US" sz="1300" b="1" dirty="0">
                <a:solidFill>
                  <a:schemeClr val="bg1"/>
                </a:solidFill>
              </a:rPr>
              <a:t>LOW / MED / HIGH</a:t>
            </a:r>
            <a:endParaRPr lang="en-US" sz="1100" dirty="0"/>
          </a:p>
        </p:txBody>
      </p:sp>
      <p:sp>
        <p:nvSpPr>
          <p:cNvPr id="16" name="Text 14"/>
          <p:cNvSpPr txBox="1"/>
          <p:nvPr/>
        </p:nvSpPr>
        <p:spPr>
          <a:xfrm>
            <a:off x="6510528" y="1874520"/>
            <a:ext cx="182880" cy="777240"/>
          </a:xfrm>
          <a:prstGeom prst="rect">
            <a:avLst/>
          </a:prstGeom>
          <a:noFill/>
          <a:ln/>
        </p:spPr>
        <p:txBody>
          <a:bodyPr wrap="square" lIns="0" tIns="0" rIns="0" bIns="0" rtlCol="0" anchor="ctr"/>
          <a:lstStyle/>
          <a:p>
            <a:pPr marL="0" indent="0" algn="ctr">
              <a:buNone/>
            </a:pPr>
            <a:r>
              <a:rPr lang="en-US" sz="2000" b="1" dirty="0">
                <a:solidFill>
                  <a:schemeClr val="accent6"/>
                </a:solidFill>
              </a:rPr>
              <a:t>›</a:t>
            </a:r>
            <a:endParaRPr lang="en-US" sz="2000" dirty="0"/>
          </a:p>
        </p:txBody>
      </p:sp>
      <p:sp>
        <p:nvSpPr>
          <p:cNvPr id="17" name="Flow SHAP explanation"/>
          <p:cNvSpPr/>
          <p:nvPr/>
        </p:nvSpPr>
        <p:spPr>
          <a:xfrm>
            <a:off x="6693408" y="1874520"/>
            <a:ext cx="1353312" cy="777240"/>
          </a:xfrm>
          <a:prstGeom prst="roundRect">
            <a:avLst>
              <a:gd name="adj" fmla="val 9412"/>
            </a:avLst>
          </a:prstGeom>
          <a:solidFill>
            <a:schemeClr val="tx2"/>
          </a:solidFill>
          <a:ln/>
        </p:spPr>
      </p:sp>
      <p:sp>
        <p:nvSpPr>
          <p:cNvPr id="18" name="Text 16"/>
          <p:cNvSpPr txBox="1"/>
          <p:nvPr/>
        </p:nvSpPr>
        <p:spPr>
          <a:xfrm>
            <a:off x="6784848" y="1874520"/>
            <a:ext cx="1170432" cy="777240"/>
          </a:xfrm>
          <a:prstGeom prst="rect">
            <a:avLst/>
          </a:prstGeom>
          <a:noFill/>
          <a:ln/>
        </p:spPr>
        <p:txBody>
          <a:bodyPr wrap="square" lIns="0" tIns="0" rIns="0" bIns="0" rtlCol="0" anchor="ctr"/>
          <a:lstStyle/>
          <a:p>
            <a:pPr marL="0" indent="0">
              <a:buNone/>
            </a:pPr>
            <a:r>
              <a:rPr lang="en-US" sz="1100" b="1" dirty="0">
                <a:solidFill>
                  <a:schemeClr val="accent2"/>
                </a:solidFill>
              </a:rPr>
              <a:t>5</a:t>
            </a:r>
            <a:endParaRPr lang="en-US" sz="1100" dirty="0"/>
          </a:p>
          <a:p>
            <a:pPr marL="0" indent="0">
              <a:buNone/>
            </a:pPr>
            <a:r>
              <a:rPr lang="en-US" sz="1300" b="1" dirty="0">
                <a:solidFill>
                  <a:schemeClr val="bg1"/>
                </a:solidFill>
              </a:rPr>
              <a:t>SHAP explanation</a:t>
            </a:r>
            <a:endParaRPr lang="en-US" sz="1100" dirty="0"/>
          </a:p>
        </p:txBody>
      </p:sp>
      <p:sp>
        <p:nvSpPr>
          <p:cNvPr id="19" name="Card OBJECTIVES"/>
          <p:cNvSpPr/>
          <p:nvPr/>
        </p:nvSpPr>
        <p:spPr>
          <a:xfrm>
            <a:off x="548640" y="2880360"/>
            <a:ext cx="2377440" cy="3063240"/>
          </a:xfrm>
          <a:prstGeom prst="roundRect">
            <a:avLst>
              <a:gd name="adj" fmla="val 3077"/>
            </a:avLst>
          </a:prstGeom>
          <a:solidFill>
            <a:schemeClr val="bg2"/>
          </a:solidFill>
          <a:ln/>
        </p:spPr>
      </p:sp>
      <p:sp>
        <p:nvSpPr>
          <p:cNvPr id="20" name="Text 18"/>
          <p:cNvSpPr txBox="1"/>
          <p:nvPr/>
        </p:nvSpPr>
        <p:spPr>
          <a:xfrm>
            <a:off x="731520" y="3017520"/>
            <a:ext cx="2103120" cy="320040"/>
          </a:xfrm>
          <a:prstGeom prst="rect">
            <a:avLst/>
          </a:prstGeom>
          <a:noFill/>
          <a:ln/>
        </p:spPr>
        <p:txBody>
          <a:bodyPr wrap="square" lIns="0" tIns="0" rIns="0" bIns="0" rtlCol="0" anchor="ctr"/>
          <a:lstStyle/>
          <a:p>
            <a:pPr marL="0" indent="0">
              <a:buNone/>
            </a:pPr>
            <a:r>
              <a:rPr lang="en-US" sz="1200" b="1" kern="0" spc="100" dirty="0">
                <a:solidFill>
                  <a:schemeClr val="accent1"/>
                </a:solidFill>
              </a:rPr>
              <a:t>OBJECTIVES</a:t>
            </a:r>
            <a:endParaRPr lang="en-US" sz="1200" dirty="0"/>
          </a:p>
        </p:txBody>
      </p:sp>
      <p:sp>
        <p:nvSpPr>
          <p:cNvPr id="21" name="Text 19"/>
          <p:cNvSpPr txBox="1"/>
          <p:nvPr/>
        </p:nvSpPr>
        <p:spPr>
          <a:xfrm>
            <a:off x="685800" y="3429000"/>
            <a:ext cx="214884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Estimate 30-day readmission probability</a:t>
            </a:r>
            <a:endParaRPr lang="en-US" sz="1400" dirty="0"/>
          </a:p>
          <a:p>
            <a:pPr marL="342900" indent="-342900">
              <a:spcAft>
                <a:spcPts val="800"/>
              </a:spcAft>
              <a:buSzPct val="100000"/>
              <a:buChar char="•"/>
            </a:pPr>
            <a:r>
              <a:rPr lang="en-US" sz="1400" dirty="0">
                <a:solidFill>
                  <a:schemeClr val="tx1"/>
                </a:solidFill>
              </a:rPr>
              <a:t>Sort patients into risk tiers</a:t>
            </a:r>
            <a:endParaRPr lang="en-US" sz="1400" dirty="0"/>
          </a:p>
          <a:p>
            <a:pPr marL="342900" indent="-342900">
              <a:spcAft>
                <a:spcPts val="800"/>
              </a:spcAft>
              <a:buSzPct val="100000"/>
              <a:buChar char="•"/>
            </a:pPr>
            <a:r>
              <a:rPr lang="en-US" sz="1400" dirty="0">
                <a:solidFill>
                  <a:schemeClr val="tx1"/>
                </a:solidFill>
              </a:rPr>
              <a:t>Explain every prediction</a:t>
            </a:r>
            <a:endParaRPr lang="en-US" sz="1400" dirty="0"/>
          </a:p>
          <a:p>
            <a:pPr marL="342900" indent="-342900">
              <a:spcAft>
                <a:spcPts val="800"/>
              </a:spcAft>
              <a:buSzPct val="100000"/>
              <a:buChar char="•"/>
            </a:pPr>
            <a:r>
              <a:rPr lang="en-US" sz="1400" dirty="0">
                <a:solidFill>
                  <a:schemeClr val="tx1"/>
                </a:solidFill>
              </a:rPr>
              <a:t>Help prioritise follow-up</a:t>
            </a:r>
            <a:endParaRPr lang="en-US" sz="1400" dirty="0"/>
          </a:p>
        </p:txBody>
      </p:sp>
      <p:sp>
        <p:nvSpPr>
          <p:cNvPr id="22" name="Card CORE FEATURES"/>
          <p:cNvSpPr/>
          <p:nvPr/>
        </p:nvSpPr>
        <p:spPr>
          <a:xfrm>
            <a:off x="3108960" y="2880360"/>
            <a:ext cx="2377440" cy="3063240"/>
          </a:xfrm>
          <a:prstGeom prst="roundRect">
            <a:avLst>
              <a:gd name="adj" fmla="val 3077"/>
            </a:avLst>
          </a:prstGeom>
          <a:solidFill>
            <a:schemeClr val="bg2"/>
          </a:solidFill>
          <a:ln/>
        </p:spPr>
      </p:sp>
      <p:sp>
        <p:nvSpPr>
          <p:cNvPr id="23" name="Text 21"/>
          <p:cNvSpPr txBox="1"/>
          <p:nvPr/>
        </p:nvSpPr>
        <p:spPr>
          <a:xfrm>
            <a:off x="3291840" y="3017520"/>
            <a:ext cx="2103120" cy="320040"/>
          </a:xfrm>
          <a:prstGeom prst="rect">
            <a:avLst/>
          </a:prstGeom>
          <a:noFill/>
          <a:ln/>
        </p:spPr>
        <p:txBody>
          <a:bodyPr wrap="square" lIns="0" tIns="0" rIns="0" bIns="0" rtlCol="0" anchor="ctr"/>
          <a:lstStyle/>
          <a:p>
            <a:pPr marL="0" indent="0">
              <a:buNone/>
            </a:pPr>
            <a:r>
              <a:rPr lang="en-US" sz="1200" b="1" kern="0" spc="100" dirty="0">
                <a:solidFill>
                  <a:schemeClr val="accent1"/>
                </a:solidFill>
              </a:rPr>
              <a:t>CORE FEATURES</a:t>
            </a:r>
            <a:endParaRPr lang="en-US" sz="1200" dirty="0"/>
          </a:p>
        </p:txBody>
      </p:sp>
      <p:sp>
        <p:nvSpPr>
          <p:cNvPr id="24" name="Text 22"/>
          <p:cNvSpPr txBox="1"/>
          <p:nvPr/>
        </p:nvSpPr>
        <p:spPr>
          <a:xfrm>
            <a:off x="3246120" y="3429000"/>
            <a:ext cx="214884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Risk score + tier badge</a:t>
            </a:r>
            <a:endParaRPr lang="en-US" sz="1400" dirty="0"/>
          </a:p>
          <a:p>
            <a:pPr marL="342900" indent="-342900">
              <a:spcAft>
                <a:spcPts val="800"/>
              </a:spcAft>
              <a:buSzPct val="100000"/>
              <a:buChar char="•"/>
            </a:pPr>
            <a:r>
              <a:rPr lang="en-US" sz="1400" dirty="0">
                <a:solidFill>
                  <a:schemeClr val="tx1"/>
                </a:solidFill>
              </a:rPr>
              <a:t>Top contributing factors</a:t>
            </a:r>
            <a:endParaRPr lang="en-US" sz="1400" dirty="0"/>
          </a:p>
          <a:p>
            <a:pPr marL="342900" indent="-342900">
              <a:spcAft>
                <a:spcPts val="800"/>
              </a:spcAft>
              <a:buSzPct val="100000"/>
              <a:buChar char="•"/>
            </a:pPr>
            <a:r>
              <a:rPr lang="en-US" sz="1400" dirty="0">
                <a:solidFill>
                  <a:schemeClr val="tx1"/>
                </a:solidFill>
              </a:rPr>
              <a:t>Risk-ranked patient list</a:t>
            </a:r>
            <a:endParaRPr lang="en-US" sz="1400" dirty="0"/>
          </a:p>
          <a:p>
            <a:pPr marL="342900" indent="-342900">
              <a:spcAft>
                <a:spcPts val="800"/>
              </a:spcAft>
              <a:buSzPct val="100000"/>
              <a:buChar char="•"/>
            </a:pPr>
            <a:r>
              <a:rPr lang="en-US" sz="1400" dirty="0">
                <a:solidFill>
                  <a:schemeClr val="tx1"/>
                </a:solidFill>
              </a:rPr>
              <a:t>Secure role-based access</a:t>
            </a:r>
            <a:endParaRPr lang="en-US" sz="1400" dirty="0"/>
          </a:p>
        </p:txBody>
      </p:sp>
      <p:sp>
        <p:nvSpPr>
          <p:cNvPr id="25" name="Card INTENDED BENEFITS"/>
          <p:cNvSpPr/>
          <p:nvPr/>
        </p:nvSpPr>
        <p:spPr>
          <a:xfrm>
            <a:off x="5669280" y="2880360"/>
            <a:ext cx="2377440" cy="3063240"/>
          </a:xfrm>
          <a:prstGeom prst="roundRect">
            <a:avLst>
              <a:gd name="adj" fmla="val 3077"/>
            </a:avLst>
          </a:prstGeom>
          <a:solidFill>
            <a:schemeClr val="bg2"/>
          </a:solidFill>
          <a:ln/>
        </p:spPr>
      </p:sp>
      <p:sp>
        <p:nvSpPr>
          <p:cNvPr id="26" name="Text 24"/>
          <p:cNvSpPr txBox="1"/>
          <p:nvPr/>
        </p:nvSpPr>
        <p:spPr>
          <a:xfrm>
            <a:off x="5852160" y="3017520"/>
            <a:ext cx="2103120" cy="320040"/>
          </a:xfrm>
          <a:prstGeom prst="rect">
            <a:avLst/>
          </a:prstGeom>
          <a:noFill/>
          <a:ln/>
        </p:spPr>
        <p:txBody>
          <a:bodyPr wrap="square" lIns="0" tIns="0" rIns="0" bIns="0" rtlCol="0" anchor="ctr"/>
          <a:lstStyle/>
          <a:p>
            <a:pPr marL="0" indent="0">
              <a:buNone/>
            </a:pPr>
            <a:r>
              <a:rPr lang="en-US" sz="1200" b="1" kern="0" spc="100" dirty="0">
                <a:solidFill>
                  <a:schemeClr val="accent1"/>
                </a:solidFill>
              </a:rPr>
              <a:t>INTENDED BENEFITS</a:t>
            </a:r>
            <a:endParaRPr lang="en-US" sz="1200" dirty="0"/>
          </a:p>
        </p:txBody>
      </p:sp>
      <p:sp>
        <p:nvSpPr>
          <p:cNvPr id="27" name="Text 25"/>
          <p:cNvSpPr txBox="1"/>
          <p:nvPr/>
        </p:nvSpPr>
        <p:spPr>
          <a:xfrm>
            <a:off x="5806440" y="3429000"/>
            <a:ext cx="214884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Faster triage</a:t>
            </a:r>
            <a:endParaRPr lang="en-US" sz="1400" dirty="0"/>
          </a:p>
          <a:p>
            <a:pPr marL="342900" indent="-342900">
              <a:spcAft>
                <a:spcPts val="800"/>
              </a:spcAft>
              <a:buSzPct val="100000"/>
              <a:buChar char="•"/>
            </a:pPr>
            <a:r>
              <a:rPr lang="en-US" sz="1400" dirty="0">
                <a:solidFill>
                  <a:schemeClr val="tx1"/>
                </a:solidFill>
              </a:rPr>
              <a:t>Transparent reasoning</a:t>
            </a:r>
            <a:endParaRPr lang="en-US" sz="1400" dirty="0"/>
          </a:p>
          <a:p>
            <a:pPr marL="342900" indent="-342900">
              <a:spcAft>
                <a:spcPts val="800"/>
              </a:spcAft>
              <a:buSzPct val="100000"/>
              <a:buChar char="•"/>
            </a:pPr>
            <a:r>
              <a:rPr lang="en-US" sz="1400" dirty="0">
                <a:solidFill>
                  <a:schemeClr val="tx1"/>
                </a:solidFill>
              </a:rPr>
              <a:t>Consistent risk screening</a:t>
            </a:r>
            <a:endParaRPr lang="en-US" sz="1400" dirty="0"/>
          </a:p>
          <a:p>
            <a:pPr marL="342900" indent="-342900">
              <a:spcAft>
                <a:spcPts val="800"/>
              </a:spcAft>
              <a:buSzPct val="100000"/>
              <a:buChar char="•"/>
            </a:pPr>
            <a:r>
              <a:rPr lang="en-US" sz="1400" dirty="0">
                <a:solidFill>
                  <a:schemeClr val="tx1"/>
                </a:solidFill>
              </a:rPr>
              <a:t>Better use of follow-up resources</a:t>
            </a:r>
            <a:endParaRPr lang="en-US" sz="1400" dirty="0"/>
          </a:p>
        </p:txBody>
      </p:sp>
      <p:sp>
        <p:nvSpPr>
          <p:cNvPr id="28" name="Mock risk card"/>
          <p:cNvSpPr/>
          <p:nvPr/>
        </p:nvSpPr>
        <p:spPr>
          <a:xfrm>
            <a:off x="8321040" y="1874520"/>
            <a:ext cx="3319272" cy="4069080"/>
          </a:xfrm>
          <a:prstGeom prst="roundRect">
            <a:avLst>
              <a:gd name="adj" fmla="val 2204"/>
            </a:avLst>
          </a:prstGeom>
          <a:solidFill>
            <a:schemeClr val="bg1"/>
          </a:solidFill>
          <a:ln w="9525">
            <a:solidFill>
              <a:srgbClr val="E2E8F0"/>
            </a:solidFill>
            <a:prstDash val="solid"/>
          </a:ln>
          <a:effectLst>
            <a:outerShdw blurRad="101600" dist="25400" dir="5400000" algn="bl" rotWithShape="0">
              <a:srgbClr val="0F172A">
                <a:alpha val="12000"/>
              </a:srgbClr>
            </a:outerShdw>
          </a:effectLst>
        </p:spPr>
      </p:sp>
      <p:sp>
        <p:nvSpPr>
          <p:cNvPr id="29" name="Text 27"/>
          <p:cNvSpPr txBox="1"/>
          <p:nvPr/>
        </p:nvSpPr>
        <p:spPr>
          <a:xfrm>
            <a:off x="8503920" y="2011680"/>
            <a:ext cx="1828800" cy="274320"/>
          </a:xfrm>
          <a:prstGeom prst="rect">
            <a:avLst/>
          </a:prstGeom>
          <a:noFill/>
          <a:ln/>
        </p:spPr>
        <p:txBody>
          <a:bodyPr wrap="square" lIns="0" tIns="0" rIns="0" bIns="0" rtlCol="0" anchor="ctr"/>
          <a:lstStyle/>
          <a:p>
            <a:pPr marL="0" indent="0">
              <a:buNone/>
            </a:pPr>
            <a:r>
              <a:rPr lang="en-US" sz="1100" b="1" dirty="0">
                <a:solidFill>
                  <a:schemeClr val="accent6"/>
                </a:solidFill>
              </a:rPr>
              <a:t>Patient DEMO-1</a:t>
            </a:r>
            <a:endParaRPr lang="en-US" sz="1100" dirty="0"/>
          </a:p>
        </p:txBody>
      </p:sp>
      <p:sp>
        <p:nvSpPr>
          <p:cNvPr id="30" name="Text 28"/>
          <p:cNvSpPr txBox="1"/>
          <p:nvPr/>
        </p:nvSpPr>
        <p:spPr>
          <a:xfrm>
            <a:off x="10332720" y="2011680"/>
            <a:ext cx="1143000" cy="274320"/>
          </a:xfrm>
          <a:prstGeom prst="rect">
            <a:avLst/>
          </a:prstGeom>
          <a:noFill/>
          <a:ln/>
        </p:spPr>
        <p:txBody>
          <a:bodyPr wrap="square" lIns="0" tIns="0" rIns="0" bIns="0" rtlCol="0" anchor="ctr"/>
          <a:lstStyle/>
          <a:p>
            <a:pPr marL="0" indent="0" algn="r">
              <a:buNone/>
            </a:pPr>
            <a:r>
              <a:rPr lang="en-US" sz="900" b="1" dirty="0">
                <a:solidFill>
                  <a:schemeClr val="accent6"/>
                </a:solidFill>
              </a:rPr>
              <a:t>ILLUSTRATIVE UI</a:t>
            </a:r>
            <a:endParaRPr lang="en-US" sz="900" dirty="0"/>
          </a:p>
        </p:txBody>
      </p:sp>
      <p:sp>
        <p:nvSpPr>
          <p:cNvPr id="31" name="High badge"/>
          <p:cNvSpPr/>
          <p:nvPr/>
        </p:nvSpPr>
        <p:spPr>
          <a:xfrm>
            <a:off x="8503920" y="2377440"/>
            <a:ext cx="1463040" cy="384048"/>
          </a:xfrm>
          <a:prstGeom prst="roundRect">
            <a:avLst>
              <a:gd name="adj" fmla="val 50000"/>
            </a:avLst>
          </a:prstGeom>
          <a:solidFill>
            <a:schemeClr val="accent5"/>
          </a:solidFill>
          <a:ln/>
        </p:spPr>
      </p:sp>
      <p:sp>
        <p:nvSpPr>
          <p:cNvPr id="32" name="Text 30"/>
          <p:cNvSpPr txBox="1"/>
          <p:nvPr/>
        </p:nvSpPr>
        <p:spPr>
          <a:xfrm>
            <a:off x="8503920" y="2377440"/>
            <a:ext cx="1463040" cy="384048"/>
          </a:xfrm>
          <a:prstGeom prst="rect">
            <a:avLst/>
          </a:prstGeom>
          <a:noFill/>
          <a:ln/>
        </p:spPr>
        <p:txBody>
          <a:bodyPr wrap="square" lIns="0" tIns="0" rIns="0" bIns="0" rtlCol="0" anchor="ctr"/>
          <a:lstStyle/>
          <a:p>
            <a:pPr marL="0" indent="0" algn="ctr">
              <a:buNone/>
            </a:pPr>
            <a:r>
              <a:rPr lang="en-US" sz="1300" b="1" dirty="0">
                <a:solidFill>
                  <a:schemeClr val="bg1"/>
                </a:solidFill>
              </a:rPr>
              <a:t>HIGH RISK</a:t>
            </a:r>
            <a:endParaRPr lang="en-US" sz="1300" dirty="0"/>
          </a:p>
        </p:txBody>
      </p:sp>
      <p:sp>
        <p:nvSpPr>
          <p:cNvPr id="33" name="Text 31"/>
          <p:cNvSpPr txBox="1"/>
          <p:nvPr/>
        </p:nvSpPr>
        <p:spPr>
          <a:xfrm>
            <a:off x="8503920" y="2834640"/>
            <a:ext cx="3017520" cy="274320"/>
          </a:xfrm>
          <a:prstGeom prst="rect">
            <a:avLst/>
          </a:prstGeom>
          <a:noFill/>
          <a:ln/>
        </p:spPr>
        <p:txBody>
          <a:bodyPr wrap="square" lIns="0" tIns="0" rIns="0" bIns="0" rtlCol="0" anchor="ctr"/>
          <a:lstStyle/>
          <a:p>
            <a:pPr marL="0" indent="0">
              <a:buNone/>
            </a:pPr>
            <a:r>
              <a:rPr lang="en-US" sz="1100" dirty="0">
                <a:solidFill>
                  <a:schemeClr val="accent6"/>
                </a:solidFill>
              </a:rPr>
              <a:t>Readmission probability: </a:t>
            </a:r>
            <a:endParaRPr lang="en-US" sz="1100" dirty="0"/>
          </a:p>
        </p:txBody>
      </p:sp>
      <p:sp>
        <p:nvSpPr>
          <p:cNvPr id="34" name="Meter 0"/>
          <p:cNvSpPr/>
          <p:nvPr/>
        </p:nvSpPr>
        <p:spPr>
          <a:xfrm>
            <a:off x="8503920" y="3200400"/>
            <a:ext cx="969264" cy="146304"/>
          </a:xfrm>
          <a:prstGeom prst="rect">
            <a:avLst/>
          </a:prstGeom>
          <a:solidFill>
            <a:schemeClr val="accent3"/>
          </a:solidFill>
          <a:ln/>
        </p:spPr>
      </p:sp>
      <p:sp>
        <p:nvSpPr>
          <p:cNvPr id="35" name="Meter 1"/>
          <p:cNvSpPr/>
          <p:nvPr/>
        </p:nvSpPr>
        <p:spPr>
          <a:xfrm>
            <a:off x="9491472" y="3200400"/>
            <a:ext cx="969264" cy="146304"/>
          </a:xfrm>
          <a:prstGeom prst="rect">
            <a:avLst/>
          </a:prstGeom>
          <a:solidFill>
            <a:schemeClr val="accent4"/>
          </a:solidFill>
          <a:ln/>
        </p:spPr>
      </p:sp>
      <p:sp>
        <p:nvSpPr>
          <p:cNvPr id="36" name="Meter 2"/>
          <p:cNvSpPr/>
          <p:nvPr/>
        </p:nvSpPr>
        <p:spPr>
          <a:xfrm>
            <a:off x="10479024" y="3200400"/>
            <a:ext cx="969264" cy="146304"/>
          </a:xfrm>
          <a:prstGeom prst="rect">
            <a:avLst/>
          </a:prstGeom>
          <a:solidFill>
            <a:schemeClr val="accent5"/>
          </a:solidFill>
          <a:ln/>
        </p:spPr>
      </p:sp>
      <p:sp>
        <p:nvSpPr>
          <p:cNvPr id="37" name="Meter marker"/>
          <p:cNvSpPr/>
          <p:nvPr/>
        </p:nvSpPr>
        <p:spPr>
          <a:xfrm>
            <a:off x="10927080" y="3383280"/>
            <a:ext cx="164592" cy="128016"/>
          </a:xfrm>
          <a:prstGeom prst="triangle">
            <a:avLst/>
          </a:prstGeom>
          <a:solidFill>
            <a:schemeClr val="tx2"/>
          </a:solidFill>
          <a:ln/>
        </p:spPr>
      </p:sp>
      <p:sp>
        <p:nvSpPr>
          <p:cNvPr id="38" name="Text 36"/>
          <p:cNvSpPr txBox="1"/>
          <p:nvPr/>
        </p:nvSpPr>
        <p:spPr>
          <a:xfrm>
            <a:off x="8503920" y="3520440"/>
            <a:ext cx="969264" cy="228600"/>
          </a:xfrm>
          <a:prstGeom prst="rect">
            <a:avLst/>
          </a:prstGeom>
          <a:noFill/>
          <a:ln/>
        </p:spPr>
        <p:txBody>
          <a:bodyPr wrap="square" lIns="0" tIns="0" rIns="0" bIns="0" rtlCol="0" anchor="ctr"/>
          <a:lstStyle/>
          <a:p>
            <a:pPr marL="0" indent="0">
              <a:buNone/>
            </a:pPr>
            <a:r>
              <a:rPr lang="en-US" sz="900" dirty="0">
                <a:solidFill>
                  <a:schemeClr val="accent6"/>
                </a:solidFill>
              </a:rPr>
              <a:t>LOW</a:t>
            </a:r>
            <a:endParaRPr lang="en-US" sz="900" dirty="0"/>
          </a:p>
        </p:txBody>
      </p:sp>
      <p:sp>
        <p:nvSpPr>
          <p:cNvPr id="39" name="Text 37"/>
          <p:cNvSpPr txBox="1"/>
          <p:nvPr/>
        </p:nvSpPr>
        <p:spPr>
          <a:xfrm>
            <a:off x="9491472" y="3520440"/>
            <a:ext cx="969264" cy="228600"/>
          </a:xfrm>
          <a:prstGeom prst="rect">
            <a:avLst/>
          </a:prstGeom>
          <a:noFill/>
          <a:ln/>
        </p:spPr>
        <p:txBody>
          <a:bodyPr wrap="square" lIns="0" tIns="0" rIns="0" bIns="0" rtlCol="0" anchor="ctr"/>
          <a:lstStyle/>
          <a:p>
            <a:pPr marL="0" indent="0" algn="ctr">
              <a:buNone/>
            </a:pPr>
            <a:r>
              <a:rPr lang="en-US" sz="900" dirty="0">
                <a:solidFill>
                  <a:schemeClr val="accent6"/>
                </a:solidFill>
              </a:rPr>
              <a:t>MED</a:t>
            </a:r>
            <a:endParaRPr lang="en-US" sz="900" dirty="0"/>
          </a:p>
        </p:txBody>
      </p:sp>
      <p:sp>
        <p:nvSpPr>
          <p:cNvPr id="40" name="Text 38"/>
          <p:cNvSpPr txBox="1"/>
          <p:nvPr/>
        </p:nvSpPr>
        <p:spPr>
          <a:xfrm>
            <a:off x="10479024" y="3520440"/>
            <a:ext cx="969264" cy="228600"/>
          </a:xfrm>
          <a:prstGeom prst="rect">
            <a:avLst/>
          </a:prstGeom>
          <a:noFill/>
          <a:ln/>
        </p:spPr>
        <p:txBody>
          <a:bodyPr wrap="square" lIns="0" tIns="0" rIns="0" bIns="0" rtlCol="0" anchor="ctr"/>
          <a:lstStyle/>
          <a:p>
            <a:pPr marL="0" indent="0" algn="r">
              <a:buNone/>
            </a:pPr>
            <a:r>
              <a:rPr lang="en-US" sz="900" dirty="0">
                <a:solidFill>
                  <a:schemeClr val="accent6"/>
                </a:solidFill>
              </a:rPr>
              <a:t>HIGH</a:t>
            </a:r>
            <a:endParaRPr lang="en-US" sz="900" dirty="0"/>
          </a:p>
        </p:txBody>
      </p:sp>
      <p:sp>
        <p:nvSpPr>
          <p:cNvPr id="41" name="Text 39"/>
          <p:cNvSpPr txBox="1"/>
          <p:nvPr/>
        </p:nvSpPr>
        <p:spPr>
          <a:xfrm>
            <a:off x="8503920" y="3840480"/>
            <a:ext cx="3017520" cy="256032"/>
          </a:xfrm>
          <a:prstGeom prst="rect">
            <a:avLst/>
          </a:prstGeom>
          <a:noFill/>
          <a:ln/>
        </p:spPr>
        <p:txBody>
          <a:bodyPr wrap="square" lIns="0" tIns="0" rIns="0" bIns="0" rtlCol="0" anchor="ctr"/>
          <a:lstStyle/>
          <a:p>
            <a:pPr marL="0" indent="0">
              <a:buNone/>
            </a:pPr>
            <a:r>
              <a:rPr lang="en-US" sz="1000" b="1" dirty="0">
                <a:solidFill>
                  <a:schemeClr val="tx2"/>
                </a:solidFill>
              </a:rPr>
              <a:t>TOP CONTRIBUTING FACTORS (SHAP)</a:t>
            </a:r>
            <a:endParaRPr lang="en-US" sz="1000" dirty="0"/>
          </a:p>
        </p:txBody>
      </p:sp>
      <p:sp>
        <p:nvSpPr>
          <p:cNvPr id="42" name="Text 40"/>
          <p:cNvSpPr txBox="1"/>
          <p:nvPr/>
        </p:nvSpPr>
        <p:spPr>
          <a:xfrm>
            <a:off x="8503920" y="4160520"/>
            <a:ext cx="3017520" cy="182880"/>
          </a:xfrm>
          <a:prstGeom prst="rect">
            <a:avLst/>
          </a:prstGeom>
          <a:noFill/>
          <a:ln/>
        </p:spPr>
        <p:txBody>
          <a:bodyPr wrap="square" lIns="0" tIns="0" rIns="0" bIns="0" rtlCol="0" anchor="ctr"/>
          <a:lstStyle/>
          <a:p>
            <a:pPr marL="0" indent="0">
              <a:buNone/>
            </a:pPr>
            <a:r>
              <a:rPr lang="en-US" sz="1000" dirty="0">
                <a:solidFill>
                  <a:schemeClr val="tx1"/>
                </a:solidFill>
              </a:rPr>
              <a:t>Prior inpatient visits</a:t>
            </a:r>
            <a:endParaRPr lang="en-US" sz="1000" dirty="0"/>
          </a:p>
        </p:txBody>
      </p:sp>
      <p:sp>
        <p:nvSpPr>
          <p:cNvPr id="43" name="Bar Prior inpatient visits"/>
          <p:cNvSpPr/>
          <p:nvPr/>
        </p:nvSpPr>
        <p:spPr>
          <a:xfrm>
            <a:off x="8503920" y="4361688"/>
            <a:ext cx="1828800" cy="118872"/>
          </a:xfrm>
          <a:prstGeom prst="rect">
            <a:avLst/>
          </a:prstGeom>
          <a:solidFill>
            <a:schemeClr val="accent5"/>
          </a:solidFill>
          <a:ln/>
        </p:spPr>
      </p:sp>
      <p:sp>
        <p:nvSpPr>
          <p:cNvPr id="44" name="Text 42"/>
          <p:cNvSpPr txBox="1"/>
          <p:nvPr/>
        </p:nvSpPr>
        <p:spPr>
          <a:xfrm>
            <a:off x="8503920" y="4572000"/>
            <a:ext cx="3017520" cy="182880"/>
          </a:xfrm>
          <a:prstGeom prst="rect">
            <a:avLst/>
          </a:prstGeom>
          <a:noFill/>
          <a:ln/>
        </p:spPr>
        <p:txBody>
          <a:bodyPr wrap="square" lIns="0" tIns="0" rIns="0" bIns="0" rtlCol="0" anchor="ctr"/>
          <a:lstStyle/>
          <a:p>
            <a:pPr marL="0" indent="0">
              <a:buNone/>
            </a:pPr>
            <a:r>
              <a:rPr lang="en-US" sz="1000" dirty="0">
                <a:solidFill>
                  <a:schemeClr val="tx1"/>
                </a:solidFill>
              </a:rPr>
              <a:t>Number of medications</a:t>
            </a:r>
            <a:endParaRPr lang="en-US" sz="1000" dirty="0"/>
          </a:p>
        </p:txBody>
      </p:sp>
      <p:sp>
        <p:nvSpPr>
          <p:cNvPr id="45" name="Bar Number of medications"/>
          <p:cNvSpPr/>
          <p:nvPr/>
        </p:nvSpPr>
        <p:spPr>
          <a:xfrm>
            <a:off x="8503920" y="4773168"/>
            <a:ext cx="1371600" cy="118872"/>
          </a:xfrm>
          <a:prstGeom prst="rect">
            <a:avLst/>
          </a:prstGeom>
          <a:solidFill>
            <a:schemeClr val="accent5"/>
          </a:solidFill>
          <a:ln/>
        </p:spPr>
      </p:sp>
      <p:sp>
        <p:nvSpPr>
          <p:cNvPr id="46" name="Text 44"/>
          <p:cNvSpPr txBox="1"/>
          <p:nvPr/>
        </p:nvSpPr>
        <p:spPr>
          <a:xfrm>
            <a:off x="8503920" y="4983480"/>
            <a:ext cx="3017520" cy="182880"/>
          </a:xfrm>
          <a:prstGeom prst="rect">
            <a:avLst/>
          </a:prstGeom>
          <a:noFill/>
          <a:ln/>
        </p:spPr>
        <p:txBody>
          <a:bodyPr wrap="square" lIns="0" tIns="0" rIns="0" bIns="0" rtlCol="0" anchor="ctr"/>
          <a:lstStyle/>
          <a:p>
            <a:pPr marL="0" indent="0">
              <a:buNone/>
            </a:pPr>
            <a:r>
              <a:rPr lang="en-US" sz="1000" dirty="0">
                <a:solidFill>
                  <a:schemeClr val="tx1"/>
                </a:solidFill>
              </a:rPr>
              <a:t>Discharge disposition</a:t>
            </a:r>
            <a:endParaRPr lang="en-US" sz="1000" dirty="0"/>
          </a:p>
        </p:txBody>
      </p:sp>
      <p:sp>
        <p:nvSpPr>
          <p:cNvPr id="47" name="Bar Discharge disposition"/>
          <p:cNvSpPr/>
          <p:nvPr/>
        </p:nvSpPr>
        <p:spPr>
          <a:xfrm>
            <a:off x="8503920" y="5184648"/>
            <a:ext cx="1005840" cy="118872"/>
          </a:xfrm>
          <a:prstGeom prst="rect">
            <a:avLst/>
          </a:prstGeom>
          <a:solidFill>
            <a:schemeClr val="accent5"/>
          </a:solidFill>
          <a:ln/>
        </p:spPr>
      </p:sp>
      <p:sp>
        <p:nvSpPr>
          <p:cNvPr id="48" name="Text 46"/>
          <p:cNvSpPr txBox="1"/>
          <p:nvPr/>
        </p:nvSpPr>
        <p:spPr>
          <a:xfrm>
            <a:off x="8503920" y="5394960"/>
            <a:ext cx="3017520" cy="182880"/>
          </a:xfrm>
          <a:prstGeom prst="rect">
            <a:avLst/>
          </a:prstGeom>
          <a:noFill/>
          <a:ln/>
        </p:spPr>
        <p:txBody>
          <a:bodyPr wrap="square" lIns="0" tIns="0" rIns="0" bIns="0" rtlCol="0" anchor="ctr"/>
          <a:lstStyle/>
          <a:p>
            <a:pPr marL="0" indent="0">
              <a:buNone/>
            </a:pPr>
            <a:r>
              <a:rPr lang="en-US" sz="1000" dirty="0">
                <a:solidFill>
                  <a:schemeClr val="tx1"/>
                </a:solidFill>
              </a:rPr>
              <a:t>Fewer ER visits</a:t>
            </a:r>
            <a:endParaRPr lang="en-US" sz="1000" dirty="0"/>
          </a:p>
        </p:txBody>
      </p:sp>
      <p:sp>
        <p:nvSpPr>
          <p:cNvPr id="49" name="Bar Fewer ER visits"/>
          <p:cNvSpPr/>
          <p:nvPr/>
        </p:nvSpPr>
        <p:spPr>
          <a:xfrm>
            <a:off x="8503920" y="5596128"/>
            <a:ext cx="640080" cy="118872"/>
          </a:xfrm>
          <a:prstGeom prst="rect">
            <a:avLst/>
          </a:prstGeom>
          <a:solidFill>
            <a:schemeClr val="accent1"/>
          </a:solidFill>
          <a:ln/>
        </p:spPr>
      </p:sp>
      <p:sp>
        <p:nvSpPr>
          <p:cNvPr id="51"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03  ·  INNOVATION &amp; EXISTING ALTERNATIVES</a:t>
            </a:r>
            <a:endParaRPr lang="en-US" sz="1200" dirty="0"/>
          </a:p>
        </p:txBody>
      </p:sp>
      <p:sp>
        <p:nvSpPr>
          <p:cNvPr id="3" name="Text 0"/>
          <p:cNvSpPr>
            <a:spLocks noGrp="1"/>
          </p:cNvSpPr>
          <p:nvPr>
            <p:ph type="title" idx="101" hasCustomPrompt="1"/>
          </p:nvPr>
        </p:nvSpPr>
        <p:spPr>
          <a:xfrm>
            <a:off x="548640" y="621792"/>
            <a:ext cx="11091672" cy="658368"/>
          </a:xfrm>
          <a:prstGeom prst="rect">
            <a:avLst/>
          </a:prstGeom>
          <a:noFill/>
          <a:ln/>
        </p:spPr>
        <p:txBody>
          <a:bodyPr wrap="square" lIns="0" tIns="0" rIns="0" bIns="0" rtlCol="0" anchor="ctr"/>
          <a:lstStyle/>
          <a:p>
            <a:pPr marL="0" indent="0" algn="l">
              <a:buNone/>
            </a:pPr>
            <a:r>
              <a:rPr lang="en-US" sz="3400" b="1" dirty="0">
                <a:solidFill>
                  <a:schemeClr val="tx2"/>
                </a:solidFill>
              </a:rPr>
              <a:t>Why ReadmitLens Is Different</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944368"/>
        </p:xfrm>
        <a:graphic>
          <a:graphicData uri="http://schemas.openxmlformats.org/drawingml/2006/table">
            <a:tbl>
              <a:tblPr/>
              <a:tblGrid>
                <a:gridCol w="2862072">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2057400">
                  <a:extLst>
                    <a:ext uri="{9D8B030D-6E8A-4147-A177-3AD203B41FA5}">
                      <a16:colId xmlns:a16="http://schemas.microsoft.com/office/drawing/2014/main" val="20004"/>
                    </a:ext>
                  </a:extLst>
                </a:gridCol>
              </a:tblGrid>
              <a:tr h="420624">
                <a:tc>
                  <a:txBody>
                    <a:bodyPr/>
                    <a:lstStyle/>
                    <a:p>
                      <a:pPr marL="0" indent="0">
                        <a:buNone/>
                      </a:pP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Manual assessment</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Rule-based scores</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Generic ML models</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ReadmitLens</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20624">
                <a:tc>
                  <a:txBody>
                    <a:bodyPr/>
                    <a:lstStyle/>
                    <a:p>
                      <a:pPr marL="0" indent="0">
                        <a:buNone/>
                      </a:pPr>
                      <a:r>
                        <a:rPr lang="en-US" sz="1400" b="1" dirty="0">
                          <a:solidFill>
                            <a:schemeClr val="tx1"/>
                          </a:solidFill>
                        </a:rPr>
                        <a:t>Uses many variables together</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accent4"/>
                          </a:solidFill>
                        </a:rPr>
                        <a:t>Limited</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accent4"/>
                          </a:solidFill>
                        </a:rPr>
                        <a:t>Few, fixed</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b="1" dirty="0">
                          <a:solidFill>
                            <a:schemeClr val="accent3"/>
                          </a:solidFill>
                        </a:rPr>
                        <a:t>Yes</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b="1" dirty="0">
                          <a:solidFill>
                            <a:schemeClr val="accent3"/>
                          </a:solidFill>
                        </a:rPr>
                        <a:t>Yes</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3F2EF"/>
                    </a:solidFill>
                  </a:tcPr>
                </a:tc>
                <a:extLst>
                  <a:ext uri="{0D108BD9-81ED-4DB2-BD59-A6C34878D82A}">
                    <a16:rowId xmlns:a16="http://schemas.microsoft.com/office/drawing/2014/main" val="10001"/>
                  </a:ext>
                </a:extLst>
              </a:tr>
              <a:tr h="420624">
                <a:tc>
                  <a:txBody>
                    <a:bodyPr/>
                    <a:lstStyle/>
                    <a:p>
                      <a:pPr marL="0" indent="0">
                        <a:buNone/>
                      </a:pPr>
                      <a:r>
                        <a:rPr lang="en-US" sz="1400" b="1" dirty="0">
                          <a:solidFill>
                            <a:schemeClr val="tx1"/>
                          </a:solidFill>
                        </a:rPr>
                        <a:t>Patient-specific reasons</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accent4"/>
                          </a:solidFill>
                        </a:rPr>
                        <a:t>Clinician-dependent</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accent4"/>
                          </a:solidFill>
                        </a:rPr>
                        <a:t>Generic points</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accent5"/>
                          </a:solidFill>
                        </a:rPr>
                        <a:t>No — black box</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b="1" dirty="0">
                          <a:solidFill>
                            <a:schemeClr val="accent3"/>
                          </a:solidFill>
                        </a:rPr>
                        <a:t>Yes — SHAP per patient</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3F2EF"/>
                    </a:solidFill>
                  </a:tcPr>
                </a:tc>
                <a:extLst>
                  <a:ext uri="{0D108BD9-81ED-4DB2-BD59-A6C34878D82A}">
                    <a16:rowId xmlns:a16="http://schemas.microsoft.com/office/drawing/2014/main" val="10002"/>
                  </a:ext>
                </a:extLst>
              </a:tr>
              <a:tr h="420624">
                <a:tc>
                  <a:txBody>
                    <a:bodyPr/>
                    <a:lstStyle/>
                    <a:p>
                      <a:pPr marL="0" indent="0">
                        <a:buNone/>
                      </a:pPr>
                      <a:r>
                        <a:rPr lang="en-US" sz="1400" b="1" dirty="0">
                          <a:solidFill>
                            <a:schemeClr val="tx1"/>
                          </a:solidFill>
                        </a:rPr>
                        <a:t>Consistent &amp; scalable</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accent5"/>
                          </a:solidFill>
                        </a:rPr>
                        <a:t>No</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b="1" dirty="0">
                          <a:solidFill>
                            <a:schemeClr val="accent3"/>
                          </a:solidFill>
                        </a:rPr>
                        <a:t>Yes</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b="1" dirty="0">
                          <a:solidFill>
                            <a:schemeClr val="accent3"/>
                          </a:solidFill>
                        </a:rPr>
                        <a:t>Yes</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b="1" dirty="0">
                          <a:solidFill>
                            <a:schemeClr val="accent3"/>
                          </a:solidFill>
                        </a:rPr>
                        <a:t>Yes</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3F2EF"/>
                    </a:solidFill>
                  </a:tcPr>
                </a:tc>
                <a:extLst>
                  <a:ext uri="{0D108BD9-81ED-4DB2-BD59-A6C34878D82A}">
                    <a16:rowId xmlns:a16="http://schemas.microsoft.com/office/drawing/2014/main" val="10003"/>
                  </a:ext>
                </a:extLst>
              </a:tr>
              <a:tr h="420624">
                <a:tc>
                  <a:txBody>
                    <a:bodyPr/>
                    <a:lstStyle/>
                    <a:p>
                      <a:pPr marL="0" indent="0">
                        <a:buNone/>
                      </a:pPr>
                      <a:r>
                        <a:rPr lang="en-US" sz="1400" b="1" dirty="0">
                          <a:solidFill>
                            <a:schemeClr val="tx1"/>
                          </a:solidFill>
                        </a:rPr>
                        <a:t>Learns from data</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accent5"/>
                          </a:solidFill>
                        </a:rPr>
                        <a:t>No</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accent5"/>
                          </a:solidFill>
                        </a:rPr>
                        <a:t>No — static</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b="1" dirty="0">
                          <a:solidFill>
                            <a:schemeClr val="accent3"/>
                          </a:solidFill>
                        </a:rPr>
                        <a:t>Yes</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b="1" dirty="0">
                          <a:solidFill>
                            <a:schemeClr val="accent3"/>
                          </a:solidFill>
                        </a:rPr>
                        <a:t>Yes</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3F2EF"/>
                    </a:solidFill>
                  </a:tcPr>
                </a:tc>
                <a:extLst>
                  <a:ext uri="{0D108BD9-81ED-4DB2-BD59-A6C34878D82A}">
                    <a16:rowId xmlns:a16="http://schemas.microsoft.com/office/drawing/2014/main" val="10004"/>
                  </a:ext>
                </a:extLst>
              </a:tr>
              <a:tr h="420624">
                <a:tc>
                  <a:txBody>
                    <a:bodyPr/>
                    <a:lstStyle/>
                    <a:p>
                      <a:pPr marL="0" indent="0">
                        <a:buNone/>
                      </a:pPr>
                      <a:r>
                        <a:rPr lang="en-US" sz="1400" b="1" dirty="0">
                          <a:solidFill>
                            <a:schemeClr val="tx1"/>
                          </a:solidFill>
                        </a:rPr>
                        <a:t>Prioritised worklist</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accent5"/>
                          </a:solidFill>
                        </a:rPr>
                        <a:t>No</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accent4"/>
                          </a:solidFill>
                        </a:rPr>
                        <a:t>Partial</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accent5"/>
                          </a:solidFill>
                        </a:rPr>
                        <a:t>No</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b="1" dirty="0">
                          <a:solidFill>
                            <a:schemeClr val="accent3"/>
                          </a:solidFill>
                        </a:rPr>
                        <a:t>Yes</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3F2EF"/>
                    </a:solidFill>
                  </a:tcPr>
                </a:tc>
                <a:extLst>
                  <a:ext uri="{0D108BD9-81ED-4DB2-BD59-A6C34878D82A}">
                    <a16:rowId xmlns:a16="http://schemas.microsoft.com/office/drawing/2014/main" val="10005"/>
                  </a:ext>
                </a:extLst>
              </a:tr>
              <a:tr h="420624">
                <a:tc>
                  <a:txBody>
                    <a:bodyPr/>
                    <a:lstStyle/>
                    <a:p>
                      <a:pPr marL="0" indent="0">
                        <a:buNone/>
                      </a:pPr>
                      <a:r>
                        <a:rPr lang="en-US" sz="1400" b="1" dirty="0">
                          <a:solidFill>
                            <a:schemeClr val="tx1"/>
                          </a:solidFill>
                        </a:rPr>
                        <a:t>Clinician-friendly dashboard</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accent6"/>
                          </a:solidFill>
                        </a:rPr>
                        <a:t>—</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accent4"/>
                          </a:solidFill>
                        </a:rPr>
                        <a:t>Paper / calculator</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accent4"/>
                          </a:solidFill>
                        </a:rPr>
                        <a:t>Rarely</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b="1" dirty="0">
                          <a:solidFill>
                            <a:schemeClr val="accent3"/>
                          </a:solidFill>
                        </a:rPr>
                        <a:t>Yes</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3F2EF"/>
                    </a:solidFill>
                  </a:tcPr>
                </a:tc>
                <a:extLst>
                  <a:ext uri="{0D108BD9-81ED-4DB2-BD59-A6C34878D82A}">
                    <a16:rowId xmlns:a16="http://schemas.microsoft.com/office/drawing/2014/main" val="10006"/>
                  </a:ext>
                </a:extLst>
              </a:tr>
            </a:tbl>
          </a:graphicData>
        </a:graphic>
      </p:graphicFrame>
      <p:sp>
        <p:nvSpPr>
          <p:cNvPr id="5" name="Limit Manual"/>
          <p:cNvSpPr/>
          <p:nvPr/>
        </p:nvSpPr>
        <p:spPr>
          <a:xfrm>
            <a:off x="548640" y="4572000"/>
            <a:ext cx="3545129" cy="868680"/>
          </a:xfrm>
          <a:prstGeom prst="roundRect">
            <a:avLst>
              <a:gd name="adj" fmla="val 8421"/>
            </a:avLst>
          </a:prstGeom>
          <a:solidFill>
            <a:schemeClr val="bg2"/>
          </a:solidFill>
          <a:ln/>
        </p:spPr>
      </p:sp>
      <p:sp>
        <p:nvSpPr>
          <p:cNvPr id="6" name="Text 3"/>
          <p:cNvSpPr txBox="1"/>
          <p:nvPr/>
        </p:nvSpPr>
        <p:spPr>
          <a:xfrm>
            <a:off x="731520" y="4572000"/>
            <a:ext cx="3200400" cy="868680"/>
          </a:xfrm>
          <a:prstGeom prst="rect">
            <a:avLst/>
          </a:prstGeom>
          <a:noFill/>
          <a:ln/>
        </p:spPr>
        <p:txBody>
          <a:bodyPr wrap="square" lIns="0" tIns="0" rIns="0" bIns="0" rtlCol="0" anchor="ctr"/>
          <a:lstStyle/>
          <a:p>
            <a:pPr marL="0" indent="0">
              <a:buNone/>
            </a:pPr>
            <a:r>
              <a:rPr lang="en-US" sz="1300" b="1" dirty="0">
                <a:solidFill>
                  <a:schemeClr val="tx2"/>
                </a:solidFill>
              </a:rPr>
              <a:t>Manual</a:t>
            </a:r>
            <a:endParaRPr lang="en-US" sz="1300" dirty="0"/>
          </a:p>
          <a:p>
            <a:pPr marL="0" indent="0">
              <a:buNone/>
            </a:pPr>
            <a:r>
              <a:rPr lang="en-US" sz="1300" dirty="0">
                <a:solidFill>
                  <a:schemeClr val="accent6"/>
                </a:solidFill>
              </a:rPr>
              <a:t>Time-consuming, subjective, hard to scale</a:t>
            </a:r>
            <a:endParaRPr lang="en-US" sz="1300" dirty="0"/>
          </a:p>
        </p:txBody>
      </p:sp>
      <p:sp>
        <p:nvSpPr>
          <p:cNvPr id="7" name="Limit Rule-based (e.g. LACE-style)"/>
          <p:cNvSpPr/>
          <p:nvPr/>
        </p:nvSpPr>
        <p:spPr>
          <a:xfrm>
            <a:off x="4322369" y="4572000"/>
            <a:ext cx="3545129" cy="868680"/>
          </a:xfrm>
          <a:prstGeom prst="roundRect">
            <a:avLst>
              <a:gd name="adj" fmla="val 8421"/>
            </a:avLst>
          </a:prstGeom>
          <a:solidFill>
            <a:schemeClr val="bg2"/>
          </a:solidFill>
          <a:ln/>
        </p:spPr>
      </p:sp>
      <p:sp>
        <p:nvSpPr>
          <p:cNvPr id="8" name="Text 5"/>
          <p:cNvSpPr txBox="1"/>
          <p:nvPr/>
        </p:nvSpPr>
        <p:spPr>
          <a:xfrm>
            <a:off x="4505249" y="4572000"/>
            <a:ext cx="3200400" cy="868680"/>
          </a:xfrm>
          <a:prstGeom prst="rect">
            <a:avLst/>
          </a:prstGeom>
          <a:noFill/>
          <a:ln/>
        </p:spPr>
        <p:txBody>
          <a:bodyPr wrap="square" lIns="0" tIns="0" rIns="0" bIns="0" rtlCol="0" anchor="ctr"/>
          <a:lstStyle/>
          <a:p>
            <a:pPr marL="0" indent="0">
              <a:buNone/>
            </a:pPr>
            <a:r>
              <a:rPr lang="en-US" sz="1300" b="1" dirty="0">
                <a:solidFill>
                  <a:schemeClr val="tx2"/>
                </a:solidFill>
              </a:rPr>
              <a:t>Rule-based (e.g. LACE-style)</a:t>
            </a:r>
            <a:endParaRPr lang="en-US" sz="1300" dirty="0"/>
          </a:p>
          <a:p>
            <a:pPr marL="0" indent="0">
              <a:buNone/>
            </a:pPr>
            <a:r>
              <a:rPr lang="en-US" sz="1300" dirty="0">
                <a:solidFill>
                  <a:schemeClr val="accent6"/>
                </a:solidFill>
              </a:rPr>
              <a:t>Simple, but fixed weights and few variables</a:t>
            </a:r>
            <a:endParaRPr lang="en-US" sz="1300" dirty="0"/>
          </a:p>
        </p:txBody>
      </p:sp>
      <p:sp>
        <p:nvSpPr>
          <p:cNvPr id="9" name="Limit Generic ML"/>
          <p:cNvSpPr/>
          <p:nvPr/>
        </p:nvSpPr>
        <p:spPr>
          <a:xfrm>
            <a:off x="8096098" y="4572000"/>
            <a:ext cx="3545129" cy="868680"/>
          </a:xfrm>
          <a:prstGeom prst="roundRect">
            <a:avLst>
              <a:gd name="adj" fmla="val 8421"/>
            </a:avLst>
          </a:prstGeom>
          <a:solidFill>
            <a:schemeClr val="bg2"/>
          </a:solidFill>
          <a:ln/>
        </p:spPr>
      </p:sp>
      <p:sp>
        <p:nvSpPr>
          <p:cNvPr id="10" name="Text 7"/>
          <p:cNvSpPr txBox="1"/>
          <p:nvPr/>
        </p:nvSpPr>
        <p:spPr>
          <a:xfrm>
            <a:off x="8278978" y="4572000"/>
            <a:ext cx="3200400" cy="868680"/>
          </a:xfrm>
          <a:prstGeom prst="rect">
            <a:avLst/>
          </a:prstGeom>
          <a:noFill/>
          <a:ln/>
        </p:spPr>
        <p:txBody>
          <a:bodyPr wrap="square" lIns="0" tIns="0" rIns="0" bIns="0" rtlCol="0" anchor="ctr"/>
          <a:lstStyle/>
          <a:p>
            <a:pPr marL="0" indent="0">
              <a:buNone/>
            </a:pPr>
            <a:r>
              <a:rPr lang="en-US" sz="1300" b="1" dirty="0">
                <a:solidFill>
                  <a:schemeClr val="tx2"/>
                </a:solidFill>
              </a:rPr>
              <a:t>Generic ML</a:t>
            </a:r>
            <a:endParaRPr lang="en-US" sz="1300" dirty="0"/>
          </a:p>
          <a:p>
            <a:pPr marL="0" indent="0">
              <a:buNone/>
            </a:pPr>
            <a:r>
              <a:rPr lang="en-US" sz="1300" dirty="0">
                <a:solidFill>
                  <a:schemeClr val="accent6"/>
                </a:solidFill>
              </a:rPr>
              <a:t>Can be accurate — but opaque, so hard to trust</a:t>
            </a:r>
            <a:endParaRPr lang="en-US" sz="1300" dirty="0"/>
          </a:p>
        </p:txBody>
      </p:sp>
      <p:sp>
        <p:nvSpPr>
          <p:cNvPr id="11" name="Key message"/>
          <p:cNvSpPr/>
          <p:nvPr/>
        </p:nvSpPr>
        <p:spPr>
          <a:xfrm>
            <a:off x="548640" y="5623560"/>
            <a:ext cx="11091672" cy="640080"/>
          </a:xfrm>
          <a:prstGeom prst="roundRect">
            <a:avLst>
              <a:gd name="adj" fmla="val 11429"/>
            </a:avLst>
          </a:prstGeom>
          <a:solidFill>
            <a:schemeClr val="tx2"/>
          </a:solidFill>
          <a:ln/>
        </p:spPr>
      </p:sp>
      <p:sp>
        <p:nvSpPr>
          <p:cNvPr id="12" name="Text 9"/>
          <p:cNvSpPr txBox="1"/>
          <p:nvPr/>
        </p:nvSpPr>
        <p:spPr>
          <a:xfrm>
            <a:off x="548640" y="5623560"/>
            <a:ext cx="11091672" cy="640080"/>
          </a:xfrm>
          <a:prstGeom prst="rect">
            <a:avLst/>
          </a:prstGeom>
          <a:noFill/>
          <a:ln/>
        </p:spPr>
        <p:txBody>
          <a:bodyPr wrap="square" lIns="0" tIns="0" rIns="0" bIns="0" rtlCol="0" anchor="ctr"/>
          <a:lstStyle/>
          <a:p>
            <a:pPr marL="0" indent="0" algn="ctr">
              <a:buNone/>
            </a:pPr>
            <a:r>
              <a:rPr lang="en-US" sz="2400" b="1" kern="0" spc="300" dirty="0">
                <a:solidFill>
                  <a:schemeClr val="bg1"/>
                </a:solidFill>
                <a:latin typeface="+mj-lt" pitchFamily="34" charset="0"/>
                <a:ea typeface="+mj-lt" pitchFamily="34" charset="-122"/>
                <a:cs typeface="+mj-lt" pitchFamily="34" charset="-120"/>
              </a:rPr>
              <a:t>PREDICT</a:t>
            </a:r>
            <a:r>
              <a:rPr lang="en-US" sz="2400" b="1" kern="0" spc="300" dirty="0">
                <a:solidFill>
                  <a:schemeClr val="accent2"/>
                </a:solidFill>
                <a:latin typeface="+mj-lt" pitchFamily="34" charset="0"/>
                <a:ea typeface="+mj-lt" pitchFamily="34" charset="-122"/>
                <a:cs typeface="+mj-lt" pitchFamily="34" charset="-120"/>
              </a:rPr>
              <a:t>   →   </a:t>
            </a:r>
            <a:r>
              <a:rPr lang="en-US" sz="2400" b="1" kern="0" spc="300" dirty="0">
                <a:solidFill>
                  <a:schemeClr val="bg1"/>
                </a:solidFill>
                <a:latin typeface="+mj-lt" pitchFamily="34" charset="0"/>
                <a:ea typeface="+mj-lt" pitchFamily="34" charset="-122"/>
                <a:cs typeface="+mj-lt" pitchFamily="34" charset="-120"/>
              </a:rPr>
              <a:t>EXPLAIN</a:t>
            </a:r>
            <a:r>
              <a:rPr lang="en-US" sz="2400" b="1" kern="0" spc="300" dirty="0">
                <a:solidFill>
                  <a:schemeClr val="accent2"/>
                </a:solidFill>
                <a:latin typeface="+mj-lt" pitchFamily="34" charset="0"/>
                <a:ea typeface="+mj-lt" pitchFamily="34" charset="-122"/>
                <a:cs typeface="+mj-lt" pitchFamily="34" charset="-120"/>
              </a:rPr>
              <a:t>   →   </a:t>
            </a:r>
            <a:r>
              <a:rPr lang="en-US" sz="2400" b="1" kern="0" spc="300" dirty="0">
                <a:solidFill>
                  <a:schemeClr val="bg1"/>
                </a:solidFill>
                <a:latin typeface="+mj-lt" pitchFamily="34" charset="0"/>
                <a:ea typeface="+mj-lt" pitchFamily="34" charset="-122"/>
                <a:cs typeface="+mj-lt" pitchFamily="34" charset="-120"/>
              </a:rPr>
              <a:t>PRIORITIZE</a:t>
            </a:r>
            <a:endParaRPr lang="en-US" sz="24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04  ·  SYSTEM ARCHITECTURE &amp; WORKFLOW</a:t>
            </a:r>
            <a:endParaRPr lang="en-US" sz="1200" dirty="0"/>
          </a:p>
        </p:txBody>
      </p:sp>
      <p:sp>
        <p:nvSpPr>
          <p:cNvPr id="3" name="Text 0"/>
          <p:cNvSpPr>
            <a:spLocks noGrp="1"/>
          </p:cNvSpPr>
          <p:nvPr>
            <p:ph type="title" idx="101" hasCustomPrompt="1"/>
          </p:nvPr>
        </p:nvSpPr>
        <p:spPr>
          <a:xfrm>
            <a:off x="548640" y="621792"/>
            <a:ext cx="11091672" cy="658368"/>
          </a:xfrm>
          <a:prstGeom prst="rect">
            <a:avLst/>
          </a:prstGeom>
          <a:noFill/>
          <a:ln/>
        </p:spPr>
        <p:txBody>
          <a:bodyPr wrap="square" lIns="0" tIns="0" rIns="0" bIns="0" rtlCol="0" anchor="ctr"/>
          <a:lstStyle/>
          <a:p>
            <a:pPr marL="0" indent="0" algn="l">
              <a:buNone/>
            </a:pPr>
            <a:r>
              <a:rPr lang="en-US" sz="3400" b="1" dirty="0">
                <a:solidFill>
                  <a:schemeClr val="tx2"/>
                </a:solidFill>
              </a:rPr>
              <a:t>How ReadmitLens Works</a:t>
            </a:r>
            <a:endParaRPr lang="en-US" sz="3400" dirty="0"/>
          </a:p>
        </p:txBody>
      </p:sp>
      <p:sp>
        <p:nvSpPr>
          <p:cNvPr id="4" name="Arch Doctor / Hospital User"/>
          <p:cNvSpPr/>
          <p:nvPr/>
        </p:nvSpPr>
        <p:spPr>
          <a:xfrm>
            <a:off x="548640" y="1417320"/>
            <a:ext cx="4754880" cy="411480"/>
          </a:xfrm>
          <a:prstGeom prst="roundRect">
            <a:avLst>
              <a:gd name="adj" fmla="val 17778"/>
            </a:avLst>
          </a:prstGeom>
          <a:solidFill>
            <a:schemeClr val="bg2"/>
          </a:solidFill>
          <a:ln w="9525">
            <a:solidFill>
              <a:srgbClr val="CBD5E1"/>
            </a:solidFill>
            <a:prstDash val="solid"/>
          </a:ln>
        </p:spPr>
      </p:sp>
      <p:sp>
        <p:nvSpPr>
          <p:cNvPr id="5" name="Text 3"/>
          <p:cNvSpPr txBox="1"/>
          <p:nvPr/>
        </p:nvSpPr>
        <p:spPr>
          <a:xfrm>
            <a:off x="685800" y="1417320"/>
            <a:ext cx="4480560" cy="411480"/>
          </a:xfrm>
          <a:prstGeom prst="rect">
            <a:avLst/>
          </a:prstGeom>
          <a:noFill/>
          <a:ln/>
        </p:spPr>
        <p:txBody>
          <a:bodyPr wrap="square" lIns="0" tIns="0" rIns="0" bIns="0" rtlCol="0" anchor="ctr"/>
          <a:lstStyle/>
          <a:p>
            <a:pPr marL="0" indent="0" algn="ctr">
              <a:buNone/>
            </a:pPr>
            <a:r>
              <a:rPr lang="en-US" sz="1400" b="1" dirty="0">
                <a:solidFill>
                  <a:schemeClr val="tx2"/>
                </a:solidFill>
              </a:rPr>
              <a:t>Doctor / Hospital’s User</a:t>
            </a:r>
            <a:endParaRPr lang="en-US" sz="1400" dirty="0"/>
          </a:p>
        </p:txBody>
      </p:sp>
      <p:sp>
        <p:nvSpPr>
          <p:cNvPr id="6" name="Shape 4"/>
          <p:cNvSpPr/>
          <p:nvPr/>
        </p:nvSpPr>
        <p:spPr>
          <a:xfrm>
            <a:off x="2926080" y="1828800"/>
            <a:ext cx="0" cy="274320"/>
          </a:xfrm>
          <a:prstGeom prst="line">
            <a:avLst/>
          </a:prstGeom>
          <a:noFill/>
          <a:ln w="19050">
            <a:solidFill>
              <a:schemeClr val="accent6"/>
            </a:solidFill>
            <a:prstDash val="solid"/>
            <a:tailEnd type="triangle"/>
          </a:ln>
        </p:spPr>
      </p:sp>
      <p:sp>
        <p:nvSpPr>
          <p:cNvPr id="7" name="Arch React + TypeScript Dashboard"/>
          <p:cNvSpPr/>
          <p:nvPr/>
        </p:nvSpPr>
        <p:spPr>
          <a:xfrm>
            <a:off x="548640" y="2103120"/>
            <a:ext cx="4754880" cy="566928"/>
          </a:xfrm>
          <a:prstGeom prst="roundRect">
            <a:avLst>
              <a:gd name="adj" fmla="val 12903"/>
            </a:avLst>
          </a:prstGeom>
          <a:solidFill>
            <a:schemeClr val="accent1">
              <a:alpha val="15000"/>
            </a:schemeClr>
          </a:solidFill>
          <a:ln/>
        </p:spPr>
      </p:sp>
      <p:sp>
        <p:nvSpPr>
          <p:cNvPr id="8" name="Text 6"/>
          <p:cNvSpPr txBox="1"/>
          <p:nvPr/>
        </p:nvSpPr>
        <p:spPr>
          <a:xfrm>
            <a:off x="685800" y="2103120"/>
            <a:ext cx="4480560" cy="566928"/>
          </a:xfrm>
          <a:prstGeom prst="rect">
            <a:avLst/>
          </a:prstGeom>
          <a:noFill/>
          <a:ln/>
        </p:spPr>
        <p:txBody>
          <a:bodyPr wrap="square" lIns="0" tIns="0" rIns="0" bIns="0" rtlCol="0" anchor="ctr"/>
          <a:lstStyle/>
          <a:p>
            <a:pPr marL="0" indent="0" algn="ctr">
              <a:buNone/>
            </a:pPr>
            <a:r>
              <a:rPr lang="en-US" sz="1400" b="1" dirty="0">
                <a:solidFill>
                  <a:schemeClr val="accent1"/>
                </a:solidFill>
              </a:rPr>
              <a:t>React + TypeScript Dashboard</a:t>
            </a:r>
            <a:endParaRPr lang="en-US" sz="1400" dirty="0"/>
          </a:p>
          <a:p>
            <a:pPr marL="0" indent="0" algn="ctr">
              <a:buNone/>
            </a:pPr>
            <a:r>
              <a:rPr lang="en-US" sz="1100" dirty="0">
                <a:solidFill>
                  <a:schemeClr val="accent6"/>
                </a:solidFill>
              </a:rPr>
              <a:t>Tailwind · risk cards · ranked patient list</a:t>
            </a:r>
            <a:endParaRPr lang="en-US" sz="1400" dirty="0"/>
          </a:p>
        </p:txBody>
      </p:sp>
      <p:sp>
        <p:nvSpPr>
          <p:cNvPr id="9" name="Shape 7"/>
          <p:cNvSpPr/>
          <p:nvPr/>
        </p:nvSpPr>
        <p:spPr>
          <a:xfrm>
            <a:off x="2926080" y="2670048"/>
            <a:ext cx="0" cy="301752"/>
          </a:xfrm>
          <a:prstGeom prst="line">
            <a:avLst/>
          </a:prstGeom>
          <a:noFill/>
          <a:ln w="19050">
            <a:solidFill>
              <a:schemeClr val="accent6"/>
            </a:solidFill>
            <a:prstDash val="solid"/>
            <a:tailEnd type="triangle"/>
          </a:ln>
        </p:spPr>
      </p:sp>
      <p:sp>
        <p:nvSpPr>
          <p:cNvPr id="10" name="Text 8"/>
          <p:cNvSpPr txBox="1"/>
          <p:nvPr/>
        </p:nvSpPr>
        <p:spPr>
          <a:xfrm>
            <a:off x="3063240" y="2670048"/>
            <a:ext cx="2011680" cy="301752"/>
          </a:xfrm>
          <a:prstGeom prst="rect">
            <a:avLst/>
          </a:prstGeom>
          <a:noFill/>
          <a:ln/>
        </p:spPr>
        <p:txBody>
          <a:bodyPr wrap="square" lIns="0" tIns="0" rIns="0" bIns="0" rtlCol="0" anchor="ctr"/>
          <a:lstStyle/>
          <a:p>
            <a:pPr marL="0" indent="0">
              <a:buNone/>
            </a:pPr>
            <a:r>
              <a:rPr lang="en-US" sz="1000" i="1" dirty="0">
                <a:solidFill>
                  <a:schemeClr val="accent6"/>
                </a:solidFill>
              </a:rPr>
              <a:t>HTTPS / REST · JWT</a:t>
            </a:r>
            <a:endParaRPr lang="en-US" sz="1000" dirty="0"/>
          </a:p>
        </p:txBody>
      </p:sp>
      <p:sp>
        <p:nvSpPr>
          <p:cNvPr id="11" name="Arch Node.js + TypeScript API"/>
          <p:cNvSpPr/>
          <p:nvPr/>
        </p:nvSpPr>
        <p:spPr>
          <a:xfrm>
            <a:off x="548640" y="2971800"/>
            <a:ext cx="4754880" cy="658368"/>
          </a:xfrm>
          <a:prstGeom prst="roundRect">
            <a:avLst>
              <a:gd name="adj" fmla="val 11111"/>
            </a:avLst>
          </a:prstGeom>
          <a:solidFill>
            <a:schemeClr val="bg2"/>
          </a:solidFill>
          <a:ln/>
        </p:spPr>
      </p:sp>
      <p:sp>
        <p:nvSpPr>
          <p:cNvPr id="12" name="Text 10"/>
          <p:cNvSpPr txBox="1"/>
          <p:nvPr/>
        </p:nvSpPr>
        <p:spPr>
          <a:xfrm>
            <a:off x="685800" y="2971800"/>
            <a:ext cx="4480560" cy="658368"/>
          </a:xfrm>
          <a:prstGeom prst="rect">
            <a:avLst/>
          </a:prstGeom>
          <a:noFill/>
          <a:ln/>
        </p:spPr>
        <p:txBody>
          <a:bodyPr wrap="square" lIns="0" tIns="0" rIns="0" bIns="0" rtlCol="0" anchor="ctr"/>
          <a:lstStyle/>
          <a:p>
            <a:pPr marL="0" indent="0" algn="ctr">
              <a:buNone/>
            </a:pPr>
            <a:r>
              <a:rPr lang="en-US" sz="1400" b="1" dirty="0">
                <a:solidFill>
                  <a:schemeClr val="tx2"/>
                </a:solidFill>
              </a:rPr>
              <a:t>Node.js + TypeScript API</a:t>
            </a:r>
            <a:endParaRPr lang="en-US" sz="1400" dirty="0"/>
          </a:p>
          <a:p>
            <a:pPr marL="0" indent="0" algn="ctr">
              <a:buNone/>
            </a:pPr>
            <a:r>
              <a:rPr lang="en-US" sz="1100" dirty="0">
                <a:solidFill>
                  <a:schemeClr val="accent6"/>
                </a:solidFill>
              </a:rPr>
              <a:t>Auth · RBAC · validation · orchestration</a:t>
            </a:r>
            <a:endParaRPr lang="en-US" sz="1400" dirty="0"/>
          </a:p>
        </p:txBody>
      </p:sp>
      <p:sp>
        <p:nvSpPr>
          <p:cNvPr id="13" name="Shape 11"/>
          <p:cNvSpPr/>
          <p:nvPr/>
        </p:nvSpPr>
        <p:spPr>
          <a:xfrm>
            <a:off x="2926080" y="3630168"/>
            <a:ext cx="0" cy="301752"/>
          </a:xfrm>
          <a:prstGeom prst="line">
            <a:avLst/>
          </a:prstGeom>
          <a:noFill/>
          <a:ln w="19050">
            <a:solidFill>
              <a:schemeClr val="accent6"/>
            </a:solidFill>
            <a:prstDash val="solid"/>
            <a:tailEnd type="triangle"/>
          </a:ln>
        </p:spPr>
      </p:sp>
      <p:sp>
        <p:nvSpPr>
          <p:cNvPr id="14" name="Text 12"/>
          <p:cNvSpPr txBox="1"/>
          <p:nvPr/>
        </p:nvSpPr>
        <p:spPr>
          <a:xfrm>
            <a:off x="3063240" y="3630168"/>
            <a:ext cx="2011680" cy="301752"/>
          </a:xfrm>
          <a:prstGeom prst="rect">
            <a:avLst/>
          </a:prstGeom>
          <a:noFill/>
          <a:ln/>
        </p:spPr>
        <p:txBody>
          <a:bodyPr wrap="square" lIns="0" tIns="0" rIns="0" bIns="0" rtlCol="0" anchor="ctr"/>
          <a:lstStyle/>
          <a:p>
            <a:pPr marL="0" indent="0">
              <a:buNone/>
            </a:pPr>
            <a:r>
              <a:rPr lang="en-US" sz="1000" i="1" dirty="0">
                <a:solidFill>
                  <a:schemeClr val="accent6"/>
                </a:solidFill>
              </a:rPr>
              <a:t>internal REST</a:t>
            </a:r>
            <a:endParaRPr lang="en-US" sz="1000" dirty="0"/>
          </a:p>
        </p:txBody>
      </p:sp>
      <p:sp>
        <p:nvSpPr>
          <p:cNvPr id="15" name="ML service"/>
          <p:cNvSpPr/>
          <p:nvPr/>
        </p:nvSpPr>
        <p:spPr>
          <a:xfrm>
            <a:off x="548640" y="3931920"/>
            <a:ext cx="4754880" cy="1371600"/>
          </a:xfrm>
          <a:prstGeom prst="roundRect">
            <a:avLst>
              <a:gd name="adj" fmla="val 5333"/>
            </a:avLst>
          </a:prstGeom>
          <a:solidFill>
            <a:schemeClr val="tx2"/>
          </a:solidFill>
          <a:ln/>
        </p:spPr>
      </p:sp>
      <p:sp>
        <p:nvSpPr>
          <p:cNvPr id="16" name="Text 14"/>
          <p:cNvSpPr txBox="1"/>
          <p:nvPr/>
        </p:nvSpPr>
        <p:spPr>
          <a:xfrm>
            <a:off x="685800" y="4005072"/>
            <a:ext cx="4480560" cy="365760"/>
          </a:xfrm>
          <a:prstGeom prst="rect">
            <a:avLst/>
          </a:prstGeom>
          <a:noFill/>
          <a:ln/>
        </p:spPr>
        <p:txBody>
          <a:bodyPr wrap="square" lIns="0" tIns="0" rIns="0" bIns="0" rtlCol="0" anchor="ctr"/>
          <a:lstStyle/>
          <a:p>
            <a:pPr marL="0" indent="0" algn="ctr">
              <a:buNone/>
            </a:pPr>
            <a:r>
              <a:rPr lang="en-US" sz="1400" b="1" dirty="0">
                <a:solidFill>
                  <a:schemeClr val="bg1"/>
                </a:solidFill>
              </a:rPr>
              <a:t>Python FastAPI ML Service</a:t>
            </a:r>
            <a:endParaRPr lang="en-US" sz="1400" dirty="0"/>
          </a:p>
        </p:txBody>
      </p:sp>
      <p:sp>
        <p:nvSpPr>
          <p:cNvPr id="17" name="ML Preprocess"/>
          <p:cNvSpPr/>
          <p:nvPr/>
        </p:nvSpPr>
        <p:spPr>
          <a:xfrm>
            <a:off x="731520" y="4480560"/>
            <a:ext cx="960120" cy="640080"/>
          </a:xfrm>
          <a:prstGeom prst="roundRect">
            <a:avLst>
              <a:gd name="adj" fmla="val 8571"/>
            </a:avLst>
          </a:prstGeom>
          <a:solidFill>
            <a:schemeClr val="accent1"/>
          </a:solidFill>
          <a:ln/>
        </p:spPr>
      </p:sp>
      <p:sp>
        <p:nvSpPr>
          <p:cNvPr id="18" name="Text 16"/>
          <p:cNvSpPr txBox="1"/>
          <p:nvPr/>
        </p:nvSpPr>
        <p:spPr>
          <a:xfrm>
            <a:off x="731520" y="4480560"/>
            <a:ext cx="960120" cy="640080"/>
          </a:xfrm>
          <a:prstGeom prst="rect">
            <a:avLst/>
          </a:prstGeom>
          <a:noFill/>
          <a:ln/>
        </p:spPr>
        <p:txBody>
          <a:bodyPr wrap="square" lIns="25400" tIns="25400" rIns="25400" bIns="25400" rtlCol="0" anchor="ctr"/>
          <a:lstStyle/>
          <a:p>
            <a:pPr marL="0" indent="0" algn="ctr">
              <a:buNone/>
            </a:pPr>
            <a:r>
              <a:rPr lang="en-US" sz="1100" b="1" dirty="0">
                <a:solidFill>
                  <a:schemeClr val="bg1"/>
                </a:solidFill>
              </a:rPr>
              <a:t>Preprocess</a:t>
            </a:r>
            <a:endParaRPr lang="en-US" sz="1100" dirty="0"/>
          </a:p>
        </p:txBody>
      </p:sp>
      <p:sp>
        <p:nvSpPr>
          <p:cNvPr id="19" name="Shape 17"/>
          <p:cNvSpPr/>
          <p:nvPr/>
        </p:nvSpPr>
        <p:spPr>
          <a:xfrm>
            <a:off x="1691640" y="4800600"/>
            <a:ext cx="182880" cy="0"/>
          </a:xfrm>
          <a:prstGeom prst="line">
            <a:avLst/>
          </a:prstGeom>
          <a:noFill/>
          <a:ln w="15875">
            <a:solidFill>
              <a:schemeClr val="accent2"/>
            </a:solidFill>
            <a:prstDash val="solid"/>
            <a:tailEnd type="triangle"/>
          </a:ln>
        </p:spPr>
      </p:sp>
      <p:sp>
        <p:nvSpPr>
          <p:cNvPr id="20" name="ML XGBoost / LightGBM"/>
          <p:cNvSpPr/>
          <p:nvPr/>
        </p:nvSpPr>
        <p:spPr>
          <a:xfrm>
            <a:off x="1874520" y="4480560"/>
            <a:ext cx="960120" cy="640080"/>
          </a:xfrm>
          <a:prstGeom prst="roundRect">
            <a:avLst>
              <a:gd name="adj" fmla="val 8571"/>
            </a:avLst>
          </a:prstGeom>
          <a:solidFill>
            <a:schemeClr val="accent1"/>
          </a:solidFill>
          <a:ln/>
        </p:spPr>
      </p:sp>
      <p:sp>
        <p:nvSpPr>
          <p:cNvPr id="21" name="Text 19"/>
          <p:cNvSpPr txBox="1"/>
          <p:nvPr/>
        </p:nvSpPr>
        <p:spPr>
          <a:xfrm>
            <a:off x="1874520" y="4480560"/>
            <a:ext cx="960120" cy="640080"/>
          </a:xfrm>
          <a:prstGeom prst="rect">
            <a:avLst/>
          </a:prstGeom>
          <a:noFill/>
          <a:ln/>
        </p:spPr>
        <p:txBody>
          <a:bodyPr wrap="square" lIns="25400" tIns="25400" rIns="25400" bIns="25400" rtlCol="0" anchor="ctr"/>
          <a:lstStyle/>
          <a:p>
            <a:pPr marL="0" indent="0" algn="ctr">
              <a:buNone/>
            </a:pPr>
            <a:r>
              <a:rPr lang="en-US" sz="1100" b="1" dirty="0">
                <a:solidFill>
                  <a:schemeClr val="bg1"/>
                </a:solidFill>
              </a:rPr>
              <a:t>XGBoost / LightGBM</a:t>
            </a:r>
            <a:endParaRPr lang="en-US" sz="1100" dirty="0"/>
          </a:p>
        </p:txBody>
      </p:sp>
      <p:sp>
        <p:nvSpPr>
          <p:cNvPr id="22" name="Shape 20"/>
          <p:cNvSpPr/>
          <p:nvPr/>
        </p:nvSpPr>
        <p:spPr>
          <a:xfrm>
            <a:off x="2834640" y="4800600"/>
            <a:ext cx="182880" cy="0"/>
          </a:xfrm>
          <a:prstGeom prst="line">
            <a:avLst/>
          </a:prstGeom>
          <a:noFill/>
          <a:ln w="15875">
            <a:solidFill>
              <a:schemeClr val="accent2"/>
            </a:solidFill>
            <a:prstDash val="solid"/>
            <a:tailEnd type="triangle"/>
          </a:ln>
        </p:spPr>
      </p:sp>
      <p:sp>
        <p:nvSpPr>
          <p:cNvPr id="23" name="ML Probability"/>
          <p:cNvSpPr/>
          <p:nvPr/>
        </p:nvSpPr>
        <p:spPr>
          <a:xfrm>
            <a:off x="3017520" y="4480560"/>
            <a:ext cx="960120" cy="640080"/>
          </a:xfrm>
          <a:prstGeom prst="roundRect">
            <a:avLst>
              <a:gd name="adj" fmla="val 8571"/>
            </a:avLst>
          </a:prstGeom>
          <a:solidFill>
            <a:schemeClr val="accent1"/>
          </a:solidFill>
          <a:ln/>
        </p:spPr>
      </p:sp>
      <p:sp>
        <p:nvSpPr>
          <p:cNvPr id="24" name="Text 22"/>
          <p:cNvSpPr txBox="1"/>
          <p:nvPr/>
        </p:nvSpPr>
        <p:spPr>
          <a:xfrm>
            <a:off x="3017520" y="4480560"/>
            <a:ext cx="960120" cy="640080"/>
          </a:xfrm>
          <a:prstGeom prst="rect">
            <a:avLst/>
          </a:prstGeom>
          <a:noFill/>
          <a:ln/>
        </p:spPr>
        <p:txBody>
          <a:bodyPr wrap="square" lIns="25400" tIns="25400" rIns="25400" bIns="25400" rtlCol="0" anchor="ctr"/>
          <a:lstStyle/>
          <a:p>
            <a:pPr marL="0" indent="0" algn="ctr">
              <a:buNone/>
            </a:pPr>
            <a:r>
              <a:rPr lang="en-US" sz="1100" b="1" dirty="0">
                <a:solidFill>
                  <a:schemeClr val="bg1"/>
                </a:solidFill>
              </a:rPr>
              <a:t>Probability</a:t>
            </a:r>
            <a:endParaRPr lang="en-US" sz="1100" dirty="0"/>
          </a:p>
        </p:txBody>
      </p:sp>
      <p:sp>
        <p:nvSpPr>
          <p:cNvPr id="25" name="Shape 23"/>
          <p:cNvSpPr/>
          <p:nvPr/>
        </p:nvSpPr>
        <p:spPr>
          <a:xfrm>
            <a:off x="3977640" y="4800600"/>
            <a:ext cx="182880" cy="0"/>
          </a:xfrm>
          <a:prstGeom prst="line">
            <a:avLst/>
          </a:prstGeom>
          <a:noFill/>
          <a:ln w="15875">
            <a:solidFill>
              <a:schemeClr val="accent2"/>
            </a:solidFill>
            <a:prstDash val="solid"/>
            <a:tailEnd type="triangle"/>
          </a:ln>
        </p:spPr>
      </p:sp>
      <p:sp>
        <p:nvSpPr>
          <p:cNvPr id="26" name="ML SHAP"/>
          <p:cNvSpPr/>
          <p:nvPr/>
        </p:nvSpPr>
        <p:spPr>
          <a:xfrm>
            <a:off x="4160520" y="4480560"/>
            <a:ext cx="960120" cy="640080"/>
          </a:xfrm>
          <a:prstGeom prst="roundRect">
            <a:avLst>
              <a:gd name="adj" fmla="val 8571"/>
            </a:avLst>
          </a:prstGeom>
          <a:solidFill>
            <a:schemeClr val="accent1"/>
          </a:solidFill>
          <a:ln/>
        </p:spPr>
      </p:sp>
      <p:sp>
        <p:nvSpPr>
          <p:cNvPr id="27" name="Text 25"/>
          <p:cNvSpPr txBox="1"/>
          <p:nvPr/>
        </p:nvSpPr>
        <p:spPr>
          <a:xfrm>
            <a:off x="4160520" y="4480560"/>
            <a:ext cx="960120" cy="640080"/>
          </a:xfrm>
          <a:prstGeom prst="rect">
            <a:avLst/>
          </a:prstGeom>
          <a:noFill/>
          <a:ln/>
        </p:spPr>
        <p:txBody>
          <a:bodyPr wrap="square" lIns="25400" tIns="25400" rIns="25400" bIns="25400" rtlCol="0" anchor="ctr"/>
          <a:lstStyle/>
          <a:p>
            <a:pPr marL="0" indent="0" algn="ctr">
              <a:buNone/>
            </a:pPr>
            <a:r>
              <a:rPr lang="en-US" sz="1100" b="1" dirty="0">
                <a:solidFill>
                  <a:schemeClr val="bg1"/>
                </a:solidFill>
              </a:rPr>
              <a:t>SHAP</a:t>
            </a:r>
            <a:endParaRPr lang="en-US" sz="1100" dirty="0"/>
          </a:p>
        </p:txBody>
      </p:sp>
      <p:sp>
        <p:nvSpPr>
          <p:cNvPr id="28" name="Arch PostgreSQL"/>
          <p:cNvSpPr/>
          <p:nvPr/>
        </p:nvSpPr>
        <p:spPr>
          <a:xfrm>
            <a:off x="5760720" y="2743200"/>
            <a:ext cx="1463040" cy="457200"/>
          </a:xfrm>
          <a:prstGeom prst="roundRect">
            <a:avLst>
              <a:gd name="adj" fmla="val 16000"/>
            </a:avLst>
          </a:prstGeom>
          <a:solidFill>
            <a:schemeClr val="bg2"/>
          </a:solidFill>
          <a:ln w="9525">
            <a:solidFill>
              <a:srgbClr val="CBD5E1"/>
            </a:solidFill>
            <a:prstDash val="solid"/>
          </a:ln>
        </p:spPr>
      </p:sp>
      <p:sp>
        <p:nvSpPr>
          <p:cNvPr id="29" name="Text 27"/>
          <p:cNvSpPr txBox="1"/>
          <p:nvPr/>
        </p:nvSpPr>
        <p:spPr>
          <a:xfrm>
            <a:off x="5897880" y="2743200"/>
            <a:ext cx="1188720" cy="457200"/>
          </a:xfrm>
          <a:prstGeom prst="rect">
            <a:avLst/>
          </a:prstGeom>
          <a:noFill/>
          <a:ln/>
        </p:spPr>
        <p:txBody>
          <a:bodyPr wrap="square" lIns="0" tIns="0" rIns="0" bIns="0" rtlCol="0" anchor="ctr"/>
          <a:lstStyle/>
          <a:p>
            <a:pPr marL="0" indent="0" algn="ctr">
              <a:buNone/>
            </a:pPr>
            <a:r>
              <a:rPr lang="en-US" sz="1400" b="1" dirty="0">
                <a:solidFill>
                  <a:schemeClr val="tx2"/>
                </a:solidFill>
              </a:rPr>
              <a:t>PostgreSQL</a:t>
            </a:r>
            <a:endParaRPr lang="en-US" sz="1400" dirty="0"/>
          </a:p>
        </p:txBody>
      </p:sp>
      <p:sp>
        <p:nvSpPr>
          <p:cNvPr id="30" name="Arch Redis"/>
          <p:cNvSpPr/>
          <p:nvPr/>
        </p:nvSpPr>
        <p:spPr>
          <a:xfrm>
            <a:off x="5760720" y="3383280"/>
            <a:ext cx="1463040" cy="457200"/>
          </a:xfrm>
          <a:prstGeom prst="roundRect">
            <a:avLst>
              <a:gd name="adj" fmla="val 16000"/>
            </a:avLst>
          </a:prstGeom>
          <a:solidFill>
            <a:schemeClr val="bg2"/>
          </a:solidFill>
          <a:ln w="9525">
            <a:solidFill>
              <a:srgbClr val="CBD5E1"/>
            </a:solidFill>
            <a:prstDash val="solid"/>
          </a:ln>
        </p:spPr>
      </p:sp>
      <p:sp>
        <p:nvSpPr>
          <p:cNvPr id="31" name="Text 29"/>
          <p:cNvSpPr txBox="1"/>
          <p:nvPr/>
        </p:nvSpPr>
        <p:spPr>
          <a:xfrm>
            <a:off x="5897880" y="3383280"/>
            <a:ext cx="1188720" cy="457200"/>
          </a:xfrm>
          <a:prstGeom prst="rect">
            <a:avLst/>
          </a:prstGeom>
          <a:noFill/>
          <a:ln/>
        </p:spPr>
        <p:txBody>
          <a:bodyPr wrap="square" lIns="0" tIns="0" rIns="0" bIns="0" rtlCol="0" anchor="ctr"/>
          <a:lstStyle/>
          <a:p>
            <a:pPr marL="0" indent="0" algn="ctr">
              <a:buNone/>
            </a:pPr>
            <a:r>
              <a:rPr lang="en-US" sz="1400" b="1" dirty="0">
                <a:solidFill>
                  <a:schemeClr val="tx2"/>
                </a:solidFill>
              </a:rPr>
              <a:t>Redis</a:t>
            </a:r>
            <a:endParaRPr lang="en-US" sz="1400" dirty="0"/>
          </a:p>
        </p:txBody>
      </p:sp>
      <p:sp>
        <p:nvSpPr>
          <p:cNvPr id="32" name="Shape 30"/>
          <p:cNvSpPr/>
          <p:nvPr/>
        </p:nvSpPr>
        <p:spPr>
          <a:xfrm>
            <a:off x="5303520" y="3108960"/>
            <a:ext cx="457200" cy="0"/>
          </a:xfrm>
          <a:prstGeom prst="line">
            <a:avLst/>
          </a:prstGeom>
          <a:noFill/>
          <a:ln w="15875">
            <a:solidFill>
              <a:schemeClr val="accent6"/>
            </a:solidFill>
            <a:prstDash val="solid"/>
            <a:headEnd type="triangle"/>
            <a:tailEnd type="triangle"/>
          </a:ln>
        </p:spPr>
      </p:sp>
      <p:sp>
        <p:nvSpPr>
          <p:cNvPr id="33" name="Shape 31"/>
          <p:cNvSpPr/>
          <p:nvPr/>
        </p:nvSpPr>
        <p:spPr>
          <a:xfrm>
            <a:off x="5303520" y="3520440"/>
            <a:ext cx="457200" cy="0"/>
          </a:xfrm>
          <a:prstGeom prst="line">
            <a:avLst/>
          </a:prstGeom>
          <a:noFill/>
          <a:ln w="15875">
            <a:solidFill>
              <a:schemeClr val="accent6"/>
            </a:solidFill>
            <a:prstDash val="solid"/>
            <a:headEnd type="triangle"/>
            <a:tailEnd type="triangle"/>
          </a:ln>
        </p:spPr>
      </p:sp>
      <p:sp>
        <p:nvSpPr>
          <p:cNvPr id="34" name="Shape 32"/>
          <p:cNvSpPr/>
          <p:nvPr/>
        </p:nvSpPr>
        <p:spPr>
          <a:xfrm>
            <a:off x="5303520" y="4617720"/>
            <a:ext cx="457200" cy="0"/>
          </a:xfrm>
          <a:prstGeom prst="line">
            <a:avLst/>
          </a:prstGeom>
          <a:noFill/>
          <a:ln w="19050">
            <a:solidFill>
              <a:schemeClr val="accent1"/>
            </a:solidFill>
            <a:prstDash val="solid"/>
            <a:tailEnd type="triangle"/>
          </a:ln>
        </p:spPr>
      </p:sp>
      <p:sp>
        <p:nvSpPr>
          <p:cNvPr id="35" name="Output"/>
          <p:cNvSpPr/>
          <p:nvPr/>
        </p:nvSpPr>
        <p:spPr>
          <a:xfrm>
            <a:off x="5760720" y="4160520"/>
            <a:ext cx="1463040" cy="914400"/>
          </a:xfrm>
          <a:prstGeom prst="roundRect">
            <a:avLst>
              <a:gd name="adj" fmla="val 8000"/>
            </a:avLst>
          </a:prstGeom>
          <a:solidFill>
            <a:schemeClr val="accent4">
              <a:alpha val="15000"/>
            </a:schemeClr>
          </a:solidFill>
          <a:ln w="9525">
            <a:solidFill>
              <a:schemeClr val="accent4"/>
            </a:solidFill>
            <a:prstDash val="solid"/>
          </a:ln>
        </p:spPr>
      </p:sp>
      <p:sp>
        <p:nvSpPr>
          <p:cNvPr id="36" name="Text 34"/>
          <p:cNvSpPr txBox="1"/>
          <p:nvPr/>
        </p:nvSpPr>
        <p:spPr>
          <a:xfrm>
            <a:off x="5806440" y="4160520"/>
            <a:ext cx="1371600" cy="914400"/>
          </a:xfrm>
          <a:prstGeom prst="rect">
            <a:avLst/>
          </a:prstGeom>
          <a:noFill/>
          <a:ln/>
        </p:spPr>
        <p:txBody>
          <a:bodyPr wrap="square" lIns="0" tIns="0" rIns="0" bIns="0" rtlCol="0" anchor="ctr"/>
          <a:lstStyle/>
          <a:p>
            <a:pPr marL="0" indent="0" algn="ctr">
              <a:buNone/>
            </a:pPr>
            <a:r>
              <a:rPr lang="en-US" sz="1100" b="1" dirty="0">
                <a:solidFill>
                  <a:schemeClr val="tx2"/>
                </a:solidFill>
              </a:rPr>
              <a:t>Risk score</a:t>
            </a:r>
            <a:endParaRPr lang="en-US" sz="1100" dirty="0"/>
          </a:p>
          <a:p>
            <a:pPr marL="0" indent="0" algn="ctr">
              <a:buNone/>
            </a:pPr>
            <a:r>
              <a:rPr lang="en-US" sz="1100" dirty="0">
                <a:solidFill>
                  <a:schemeClr val="tx2"/>
                </a:solidFill>
              </a:rPr>
              <a:t>+ tier + top factors</a:t>
            </a:r>
            <a:endParaRPr lang="en-US" sz="1100" dirty="0"/>
          </a:p>
        </p:txBody>
      </p:sp>
      <p:sp>
        <p:nvSpPr>
          <p:cNvPr id="37" name="Shape 35"/>
          <p:cNvSpPr/>
          <p:nvPr/>
        </p:nvSpPr>
        <p:spPr>
          <a:xfrm>
            <a:off x="7223760" y="4617720"/>
            <a:ext cx="228600" cy="0"/>
          </a:xfrm>
          <a:prstGeom prst="line">
            <a:avLst/>
          </a:prstGeom>
          <a:noFill/>
          <a:ln w="19050">
            <a:solidFill>
              <a:schemeClr val="accent1"/>
            </a:solidFill>
            <a:prstDash val="dash"/>
          </a:ln>
        </p:spPr>
      </p:sp>
      <p:sp>
        <p:nvSpPr>
          <p:cNvPr id="38" name="Shape 36"/>
          <p:cNvSpPr/>
          <p:nvPr/>
        </p:nvSpPr>
        <p:spPr>
          <a:xfrm>
            <a:off x="7452360" y="2386584"/>
            <a:ext cx="0" cy="2231136"/>
          </a:xfrm>
          <a:prstGeom prst="line">
            <a:avLst/>
          </a:prstGeom>
          <a:noFill/>
          <a:ln w="19050">
            <a:solidFill>
              <a:schemeClr val="accent1"/>
            </a:solidFill>
            <a:prstDash val="dash"/>
          </a:ln>
        </p:spPr>
      </p:sp>
      <p:sp>
        <p:nvSpPr>
          <p:cNvPr id="39" name="Shape 37"/>
          <p:cNvSpPr/>
          <p:nvPr/>
        </p:nvSpPr>
        <p:spPr>
          <a:xfrm>
            <a:off x="5303520" y="2386584"/>
            <a:ext cx="2148840" cy="0"/>
          </a:xfrm>
          <a:prstGeom prst="line">
            <a:avLst/>
          </a:prstGeom>
          <a:noFill/>
          <a:ln w="19050">
            <a:solidFill>
              <a:schemeClr val="accent1"/>
            </a:solidFill>
            <a:prstDash val="dash"/>
            <a:headEnd type="triangle"/>
          </a:ln>
        </p:spPr>
      </p:sp>
      <p:sp>
        <p:nvSpPr>
          <p:cNvPr id="40" name="Text 38"/>
          <p:cNvSpPr txBox="1"/>
          <p:nvPr/>
        </p:nvSpPr>
        <p:spPr>
          <a:xfrm>
            <a:off x="5440680" y="2103120"/>
            <a:ext cx="2011680" cy="256032"/>
          </a:xfrm>
          <a:prstGeom prst="rect">
            <a:avLst/>
          </a:prstGeom>
          <a:noFill/>
          <a:ln/>
        </p:spPr>
        <p:txBody>
          <a:bodyPr wrap="square" lIns="0" tIns="0" rIns="0" bIns="0" rtlCol="0" anchor="ctr"/>
          <a:lstStyle/>
          <a:p>
            <a:pPr marL="0" indent="0">
              <a:buNone/>
            </a:pPr>
            <a:r>
              <a:rPr lang="en-US" sz="1000" i="1" dirty="0">
                <a:solidFill>
                  <a:schemeClr val="accent1"/>
                </a:solidFill>
              </a:rPr>
              <a:t>results returned to dashboard</a:t>
            </a:r>
            <a:endParaRPr lang="en-US" sz="1000" dirty="0"/>
          </a:p>
        </p:txBody>
      </p:sp>
      <p:sp>
        <p:nvSpPr>
          <p:cNvPr id="41" name="Design Decoupled ML service"/>
          <p:cNvSpPr/>
          <p:nvPr/>
        </p:nvSpPr>
        <p:spPr>
          <a:xfrm>
            <a:off x="7863840" y="1417320"/>
            <a:ext cx="3776472" cy="868680"/>
          </a:xfrm>
          <a:prstGeom prst="roundRect">
            <a:avLst>
              <a:gd name="adj" fmla="val 8421"/>
            </a:avLst>
          </a:prstGeom>
          <a:solidFill>
            <a:schemeClr val="bg2"/>
          </a:solidFill>
          <a:ln/>
        </p:spPr>
      </p:sp>
      <p:sp>
        <p:nvSpPr>
          <p:cNvPr id="42" name="Text 40"/>
          <p:cNvSpPr txBox="1"/>
          <p:nvPr/>
        </p:nvSpPr>
        <p:spPr>
          <a:xfrm>
            <a:off x="8046720" y="1417320"/>
            <a:ext cx="3474720" cy="868680"/>
          </a:xfrm>
          <a:prstGeom prst="rect">
            <a:avLst/>
          </a:prstGeom>
          <a:noFill/>
          <a:ln/>
        </p:spPr>
        <p:txBody>
          <a:bodyPr wrap="square" lIns="0" tIns="0" rIns="0" bIns="0" rtlCol="0" anchor="ctr"/>
          <a:lstStyle/>
          <a:p>
            <a:pPr marL="0" indent="0">
              <a:buNone/>
            </a:pPr>
            <a:r>
              <a:rPr lang="en-US" sz="1300" b="1" dirty="0">
                <a:solidFill>
                  <a:schemeClr val="accent1"/>
                </a:solidFill>
              </a:rPr>
              <a:t>Decoupled ML service</a:t>
            </a:r>
            <a:endParaRPr lang="en-US" sz="1300" dirty="0"/>
          </a:p>
          <a:p>
            <a:pPr marL="0" indent="0">
              <a:buNone/>
            </a:pPr>
            <a:r>
              <a:rPr lang="en-US" sz="1300" dirty="0">
                <a:solidFill>
                  <a:schemeClr val="tx1"/>
                </a:solidFill>
              </a:rPr>
              <a:t>Retrain or swap the model without touching the app</a:t>
            </a:r>
            <a:endParaRPr lang="en-US" sz="1300" dirty="0"/>
          </a:p>
        </p:txBody>
      </p:sp>
      <p:sp>
        <p:nvSpPr>
          <p:cNvPr id="43" name="Design Audit trail"/>
          <p:cNvSpPr/>
          <p:nvPr/>
        </p:nvSpPr>
        <p:spPr>
          <a:xfrm>
            <a:off x="7863840" y="2414016"/>
            <a:ext cx="3776472" cy="868680"/>
          </a:xfrm>
          <a:prstGeom prst="roundRect">
            <a:avLst>
              <a:gd name="adj" fmla="val 8421"/>
            </a:avLst>
          </a:prstGeom>
          <a:solidFill>
            <a:schemeClr val="bg2"/>
          </a:solidFill>
          <a:ln/>
        </p:spPr>
      </p:sp>
      <p:sp>
        <p:nvSpPr>
          <p:cNvPr id="44" name="Text 42"/>
          <p:cNvSpPr txBox="1"/>
          <p:nvPr/>
        </p:nvSpPr>
        <p:spPr>
          <a:xfrm>
            <a:off x="8046720" y="2414016"/>
            <a:ext cx="3474720" cy="868680"/>
          </a:xfrm>
          <a:prstGeom prst="rect">
            <a:avLst/>
          </a:prstGeom>
          <a:noFill/>
          <a:ln/>
        </p:spPr>
        <p:txBody>
          <a:bodyPr wrap="square" lIns="0" tIns="0" rIns="0" bIns="0" rtlCol="0" anchor="ctr"/>
          <a:lstStyle/>
          <a:p>
            <a:pPr marL="0" indent="0">
              <a:buNone/>
            </a:pPr>
            <a:r>
              <a:rPr lang="en-US" sz="1300" b="1" dirty="0">
                <a:solidFill>
                  <a:schemeClr val="accent1"/>
                </a:solidFill>
              </a:rPr>
              <a:t>Audit trail</a:t>
            </a:r>
            <a:endParaRPr lang="en-US" sz="1300" dirty="0"/>
          </a:p>
          <a:p>
            <a:pPr marL="0" indent="0">
              <a:buNone/>
            </a:pPr>
            <a:r>
              <a:rPr lang="en-US" sz="1300" dirty="0">
                <a:solidFill>
                  <a:schemeClr val="tx1"/>
                </a:solidFill>
              </a:rPr>
              <a:t>Each prediction stored with its explanation and model version</a:t>
            </a:r>
            <a:endParaRPr lang="en-US" sz="1300" dirty="0"/>
          </a:p>
        </p:txBody>
      </p:sp>
      <p:sp>
        <p:nvSpPr>
          <p:cNvPr id="45" name="Design Secure by design"/>
          <p:cNvSpPr/>
          <p:nvPr/>
        </p:nvSpPr>
        <p:spPr>
          <a:xfrm>
            <a:off x="7863840" y="3410712"/>
            <a:ext cx="3776472" cy="868680"/>
          </a:xfrm>
          <a:prstGeom prst="roundRect">
            <a:avLst>
              <a:gd name="adj" fmla="val 8421"/>
            </a:avLst>
          </a:prstGeom>
          <a:solidFill>
            <a:schemeClr val="bg2"/>
          </a:solidFill>
          <a:ln/>
        </p:spPr>
      </p:sp>
      <p:sp>
        <p:nvSpPr>
          <p:cNvPr id="46" name="Text 44"/>
          <p:cNvSpPr txBox="1"/>
          <p:nvPr/>
        </p:nvSpPr>
        <p:spPr>
          <a:xfrm>
            <a:off x="8046720" y="3410712"/>
            <a:ext cx="3474720" cy="868680"/>
          </a:xfrm>
          <a:prstGeom prst="rect">
            <a:avLst/>
          </a:prstGeom>
          <a:noFill/>
          <a:ln/>
        </p:spPr>
        <p:txBody>
          <a:bodyPr wrap="square" lIns="0" tIns="0" rIns="0" bIns="0" rtlCol="0" anchor="ctr"/>
          <a:lstStyle/>
          <a:p>
            <a:pPr marL="0" indent="0">
              <a:buNone/>
            </a:pPr>
            <a:r>
              <a:rPr lang="en-US" sz="1300" b="1" dirty="0">
                <a:solidFill>
                  <a:schemeClr val="accent1"/>
                </a:solidFill>
              </a:rPr>
              <a:t>Secure by design</a:t>
            </a:r>
            <a:endParaRPr lang="en-US" sz="1300" dirty="0"/>
          </a:p>
          <a:p>
            <a:pPr marL="0" indent="0">
              <a:buNone/>
            </a:pPr>
            <a:r>
              <a:rPr lang="en-US" sz="1300" dirty="0">
                <a:solidFill>
                  <a:schemeClr val="tx1"/>
                </a:solidFill>
              </a:rPr>
              <a:t>JWT auth, role-based access, HTTPS end-to-end</a:t>
            </a:r>
            <a:endParaRPr lang="en-US" sz="1300" dirty="0"/>
          </a:p>
        </p:txBody>
      </p:sp>
      <p:sp>
        <p:nvSpPr>
          <p:cNvPr id="47" name="Design Containerised"/>
          <p:cNvSpPr/>
          <p:nvPr/>
        </p:nvSpPr>
        <p:spPr>
          <a:xfrm>
            <a:off x="7863840" y="4407408"/>
            <a:ext cx="3776472" cy="868680"/>
          </a:xfrm>
          <a:prstGeom prst="roundRect">
            <a:avLst>
              <a:gd name="adj" fmla="val 8421"/>
            </a:avLst>
          </a:prstGeom>
          <a:solidFill>
            <a:schemeClr val="bg2"/>
          </a:solidFill>
          <a:ln/>
        </p:spPr>
      </p:sp>
      <p:sp>
        <p:nvSpPr>
          <p:cNvPr id="48" name="Text 46"/>
          <p:cNvSpPr txBox="1"/>
          <p:nvPr/>
        </p:nvSpPr>
        <p:spPr>
          <a:xfrm>
            <a:off x="8046720" y="4407408"/>
            <a:ext cx="3474720" cy="868680"/>
          </a:xfrm>
          <a:prstGeom prst="rect">
            <a:avLst/>
          </a:prstGeom>
          <a:noFill/>
          <a:ln/>
        </p:spPr>
        <p:txBody>
          <a:bodyPr wrap="square" lIns="0" tIns="0" rIns="0" bIns="0" rtlCol="0" anchor="ctr"/>
          <a:lstStyle/>
          <a:p>
            <a:pPr marL="0" indent="0">
              <a:buNone/>
            </a:pPr>
            <a:r>
              <a:rPr lang="en-US" sz="1300" b="1" dirty="0">
                <a:solidFill>
                  <a:schemeClr val="accent1"/>
                </a:solidFill>
              </a:rPr>
              <a:t>Containerised</a:t>
            </a:r>
            <a:endParaRPr lang="en-US" sz="1300" dirty="0"/>
          </a:p>
          <a:p>
            <a:pPr marL="0" indent="0">
              <a:buNone/>
            </a:pPr>
            <a:r>
              <a:rPr lang="en-US" sz="1300" dirty="0">
                <a:solidFill>
                  <a:schemeClr val="tx1"/>
                </a:solidFill>
              </a:rPr>
              <a:t>Each service runs in Docker — one-command demo</a:t>
            </a:r>
            <a:endParaRPr lang="en-US" sz="1300" dirty="0"/>
          </a:p>
        </p:txBody>
      </p:sp>
      <p:sp>
        <p:nvSpPr>
          <p:cNvPr id="49" name="WF Patient Data"/>
          <p:cNvSpPr/>
          <p:nvPr/>
        </p:nvSpPr>
        <p:spPr>
          <a:xfrm>
            <a:off x="548640" y="5532120"/>
            <a:ext cx="1417320" cy="685800"/>
          </a:xfrm>
          <a:prstGeom prst="chevron">
            <a:avLst/>
          </a:prstGeom>
          <a:solidFill>
            <a:schemeClr val="accent1">
              <a:alpha val="40000"/>
            </a:schemeClr>
          </a:solidFill>
          <a:ln/>
        </p:spPr>
        <p:txBody>
          <a:bodyPr wrap="square" lIns="0" tIns="635" rIns="635" bIns="0" rtlCol="0" anchor="ctr"/>
          <a:lstStyle/>
          <a:p>
            <a:pPr marL="0" indent="0" algn="ctr">
              <a:buNone/>
            </a:pPr>
            <a:r>
              <a:rPr lang="en-US" sz="1000" b="1" dirty="0">
                <a:solidFill>
                  <a:schemeClr val="tx2"/>
                </a:solidFill>
              </a:rPr>
              <a:t>Patient Data</a:t>
            </a:r>
            <a:endParaRPr lang="en-US" sz="1000" dirty="0"/>
          </a:p>
        </p:txBody>
      </p:sp>
      <p:sp>
        <p:nvSpPr>
          <p:cNvPr id="50" name="WF Pre-processing"/>
          <p:cNvSpPr/>
          <p:nvPr/>
        </p:nvSpPr>
        <p:spPr>
          <a:xfrm>
            <a:off x="1930298" y="5532120"/>
            <a:ext cx="1417320" cy="685800"/>
          </a:xfrm>
          <a:prstGeom prst="chevron">
            <a:avLst/>
          </a:prstGeom>
          <a:solidFill>
            <a:schemeClr val="accent1">
              <a:alpha val="49000"/>
            </a:schemeClr>
          </a:solidFill>
          <a:ln/>
        </p:spPr>
        <p:txBody>
          <a:bodyPr wrap="square" lIns="0" tIns="635" rIns="635" bIns="0" rtlCol="0" anchor="ctr"/>
          <a:lstStyle/>
          <a:p>
            <a:pPr marL="0" indent="0" algn="ctr">
              <a:buNone/>
            </a:pPr>
            <a:r>
              <a:rPr lang="en-US" sz="1000" b="1" dirty="0">
                <a:solidFill>
                  <a:schemeClr val="tx2"/>
                </a:solidFill>
              </a:rPr>
              <a:t>Pre-processing</a:t>
            </a:r>
            <a:endParaRPr lang="en-US" sz="1000" dirty="0"/>
          </a:p>
        </p:txBody>
      </p:sp>
      <p:sp>
        <p:nvSpPr>
          <p:cNvPr id="51" name="WF Feature Engineering"/>
          <p:cNvSpPr/>
          <p:nvPr/>
        </p:nvSpPr>
        <p:spPr>
          <a:xfrm>
            <a:off x="3311957" y="5532120"/>
            <a:ext cx="1417320" cy="685800"/>
          </a:xfrm>
          <a:prstGeom prst="chevron">
            <a:avLst/>
          </a:prstGeom>
          <a:solidFill>
            <a:schemeClr val="accent1">
              <a:alpha val="58000"/>
            </a:schemeClr>
          </a:solidFill>
          <a:ln/>
        </p:spPr>
        <p:txBody>
          <a:bodyPr wrap="square" lIns="0" tIns="635" rIns="635" bIns="0" rtlCol="0" anchor="ctr"/>
          <a:lstStyle/>
          <a:p>
            <a:pPr marL="0" indent="0" algn="ctr">
              <a:buNone/>
            </a:pPr>
            <a:r>
              <a:rPr lang="en-US" sz="1000" b="1" dirty="0">
                <a:solidFill>
                  <a:schemeClr val="tx2"/>
                </a:solidFill>
              </a:rPr>
              <a:t>Feature Engineering</a:t>
            </a:r>
            <a:endParaRPr lang="en-US" sz="1000" dirty="0"/>
          </a:p>
        </p:txBody>
      </p:sp>
      <p:sp>
        <p:nvSpPr>
          <p:cNvPr id="52" name="WF ML Prediction"/>
          <p:cNvSpPr/>
          <p:nvPr/>
        </p:nvSpPr>
        <p:spPr>
          <a:xfrm>
            <a:off x="4693615" y="5532120"/>
            <a:ext cx="1417320" cy="685800"/>
          </a:xfrm>
          <a:prstGeom prst="chevron">
            <a:avLst/>
          </a:prstGeom>
          <a:solidFill>
            <a:schemeClr val="accent1">
              <a:alpha val="67000"/>
            </a:schemeClr>
          </a:solidFill>
          <a:ln/>
        </p:spPr>
        <p:txBody>
          <a:bodyPr wrap="square" lIns="0" tIns="635" rIns="635" bIns="0" rtlCol="0" anchor="ctr"/>
          <a:lstStyle/>
          <a:p>
            <a:pPr marL="0" indent="0" algn="ctr">
              <a:buNone/>
            </a:pPr>
            <a:r>
              <a:rPr lang="en-US" sz="1000" b="1" dirty="0">
                <a:solidFill>
                  <a:schemeClr val="bg1"/>
                </a:solidFill>
              </a:rPr>
              <a:t>ML Prediction</a:t>
            </a:r>
            <a:endParaRPr lang="en-US" sz="1000" dirty="0"/>
          </a:p>
        </p:txBody>
      </p:sp>
      <p:sp>
        <p:nvSpPr>
          <p:cNvPr id="53" name="WF Risk Probability"/>
          <p:cNvSpPr/>
          <p:nvPr/>
        </p:nvSpPr>
        <p:spPr>
          <a:xfrm>
            <a:off x="6075274" y="5532120"/>
            <a:ext cx="1417320" cy="685800"/>
          </a:xfrm>
          <a:prstGeom prst="chevron">
            <a:avLst/>
          </a:prstGeom>
          <a:solidFill>
            <a:schemeClr val="accent1">
              <a:alpha val="76000"/>
            </a:schemeClr>
          </a:solidFill>
          <a:ln/>
        </p:spPr>
        <p:txBody>
          <a:bodyPr wrap="square" lIns="0" tIns="635" rIns="635" bIns="0" rtlCol="0" anchor="ctr"/>
          <a:lstStyle/>
          <a:p>
            <a:pPr marL="0" indent="0" algn="ctr">
              <a:buNone/>
            </a:pPr>
            <a:r>
              <a:rPr lang="en-US" sz="1000" b="1" dirty="0">
                <a:solidFill>
                  <a:schemeClr val="bg1"/>
                </a:solidFill>
              </a:rPr>
              <a:t>Risk Probability</a:t>
            </a:r>
            <a:endParaRPr lang="en-US" sz="1000" dirty="0"/>
          </a:p>
        </p:txBody>
      </p:sp>
      <p:sp>
        <p:nvSpPr>
          <p:cNvPr id="54" name="WF LOW / MED / HIGH"/>
          <p:cNvSpPr/>
          <p:nvPr/>
        </p:nvSpPr>
        <p:spPr>
          <a:xfrm>
            <a:off x="7456932" y="5532120"/>
            <a:ext cx="1417320" cy="685800"/>
          </a:xfrm>
          <a:prstGeom prst="chevron">
            <a:avLst/>
          </a:prstGeom>
          <a:solidFill>
            <a:schemeClr val="accent1">
              <a:alpha val="85000"/>
            </a:schemeClr>
          </a:solidFill>
          <a:ln/>
        </p:spPr>
        <p:txBody>
          <a:bodyPr wrap="square" lIns="0" tIns="635" rIns="635" bIns="0" rtlCol="0" anchor="ctr"/>
          <a:lstStyle/>
          <a:p>
            <a:pPr marL="0" indent="0" algn="ctr">
              <a:buNone/>
            </a:pPr>
            <a:r>
              <a:rPr lang="en-US" sz="1000" b="1" dirty="0">
                <a:solidFill>
                  <a:schemeClr val="bg1"/>
                </a:solidFill>
              </a:rPr>
              <a:t>LOW / MED / HIGH</a:t>
            </a:r>
            <a:endParaRPr lang="en-US" sz="1000" dirty="0"/>
          </a:p>
        </p:txBody>
      </p:sp>
      <p:sp>
        <p:nvSpPr>
          <p:cNvPr id="55" name="WF SHAP Explanation"/>
          <p:cNvSpPr/>
          <p:nvPr/>
        </p:nvSpPr>
        <p:spPr>
          <a:xfrm>
            <a:off x="8838590" y="5532120"/>
            <a:ext cx="1417320" cy="685800"/>
          </a:xfrm>
          <a:prstGeom prst="chevron">
            <a:avLst/>
          </a:prstGeom>
          <a:solidFill>
            <a:schemeClr val="accent1">
              <a:alpha val="94000"/>
            </a:schemeClr>
          </a:solidFill>
          <a:ln/>
        </p:spPr>
        <p:txBody>
          <a:bodyPr wrap="square" lIns="0" tIns="635" rIns="635" bIns="0" rtlCol="0" anchor="ctr"/>
          <a:lstStyle/>
          <a:p>
            <a:pPr marL="0" indent="0" algn="ctr">
              <a:buNone/>
            </a:pPr>
            <a:r>
              <a:rPr lang="en-US" sz="1000" b="1" dirty="0">
                <a:solidFill>
                  <a:schemeClr val="bg1"/>
                </a:solidFill>
              </a:rPr>
              <a:t>SHAP Explanation</a:t>
            </a:r>
            <a:endParaRPr lang="en-US" sz="1000" dirty="0"/>
          </a:p>
        </p:txBody>
      </p:sp>
      <p:sp>
        <p:nvSpPr>
          <p:cNvPr id="56" name="WF Follow-up Priority"/>
          <p:cNvSpPr/>
          <p:nvPr/>
        </p:nvSpPr>
        <p:spPr>
          <a:xfrm>
            <a:off x="10220249" y="5532120"/>
            <a:ext cx="1417320" cy="685800"/>
          </a:xfrm>
          <a:prstGeom prst="chevron">
            <a:avLst/>
          </a:prstGeom>
          <a:solidFill>
            <a:schemeClr val="tx2"/>
          </a:solidFill>
          <a:ln/>
        </p:spPr>
        <p:txBody>
          <a:bodyPr wrap="square" lIns="0" tIns="635" rIns="635" bIns="0" rtlCol="0" anchor="ctr"/>
          <a:lstStyle/>
          <a:p>
            <a:pPr marL="0" indent="0" algn="ctr">
              <a:buNone/>
            </a:pPr>
            <a:r>
              <a:rPr lang="en-US" sz="1000" b="1" dirty="0">
                <a:solidFill>
                  <a:schemeClr val="bg1"/>
                </a:solidFill>
              </a:rPr>
              <a:t>Follow-up Priority</a:t>
            </a:r>
            <a:endParaRPr lang="en-US" sz="1000" dirty="0"/>
          </a:p>
        </p:txBody>
      </p:sp>
      <p:sp>
        <p:nvSpPr>
          <p:cNvPr id="57"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05  ·  TECHNOLOGY STACK &amp; IMPLEMENTATION PLAN</a:t>
            </a:r>
            <a:endParaRPr lang="en-US" sz="1200" dirty="0"/>
          </a:p>
        </p:txBody>
      </p:sp>
      <p:sp>
        <p:nvSpPr>
          <p:cNvPr id="3" name="Text 0"/>
          <p:cNvSpPr>
            <a:spLocks noGrp="1"/>
          </p:cNvSpPr>
          <p:nvPr>
            <p:ph type="title" idx="101" hasCustomPrompt="1"/>
          </p:nvPr>
        </p:nvSpPr>
        <p:spPr>
          <a:xfrm>
            <a:off x="548640" y="621792"/>
            <a:ext cx="11091672" cy="658368"/>
          </a:xfrm>
          <a:prstGeom prst="rect">
            <a:avLst/>
          </a:prstGeom>
          <a:noFill/>
          <a:ln/>
        </p:spPr>
        <p:txBody>
          <a:bodyPr wrap="square" lIns="0" tIns="0" rIns="0" bIns="0" rtlCol="0" anchor="ctr"/>
          <a:lstStyle/>
          <a:p>
            <a:pPr marL="0" indent="0" algn="l">
              <a:buNone/>
            </a:pPr>
            <a:r>
              <a:rPr lang="en-US" sz="3400" b="1" dirty="0">
                <a:solidFill>
                  <a:schemeClr val="tx2"/>
                </a:solidFill>
              </a:rPr>
              <a:t>Tech Stack &amp; Build Plan</a:t>
            </a:r>
            <a:endParaRPr lang="en-US" sz="3400" dirty="0"/>
          </a:p>
        </p:txBody>
      </p:sp>
      <p:sp>
        <p:nvSpPr>
          <p:cNvPr id="4" name="Stack Frontend"/>
          <p:cNvSpPr/>
          <p:nvPr/>
        </p:nvSpPr>
        <p:spPr>
          <a:xfrm>
            <a:off x="548640" y="1463040"/>
            <a:ext cx="2606040" cy="1463040"/>
          </a:xfrm>
          <a:prstGeom prst="roundRect">
            <a:avLst>
              <a:gd name="adj" fmla="val 5000"/>
            </a:avLst>
          </a:prstGeom>
          <a:solidFill>
            <a:schemeClr val="bg2"/>
          </a:solidFill>
          <a:ln/>
        </p:spPr>
      </p:sp>
      <p:sp>
        <p:nvSpPr>
          <p:cNvPr id="5" name="Text 3"/>
          <p:cNvSpPr txBox="1"/>
          <p:nvPr/>
        </p:nvSpPr>
        <p:spPr>
          <a:xfrm>
            <a:off x="731520" y="1600200"/>
            <a:ext cx="228600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FRONTEND</a:t>
            </a:r>
            <a:endParaRPr lang="en-US" sz="1200" dirty="0"/>
          </a:p>
        </p:txBody>
      </p:sp>
      <p:sp>
        <p:nvSpPr>
          <p:cNvPr id="6" name="Text 4"/>
          <p:cNvSpPr txBox="1"/>
          <p:nvPr/>
        </p:nvSpPr>
        <p:spPr>
          <a:xfrm>
            <a:off x="731520" y="1920240"/>
            <a:ext cx="2286000" cy="91440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400" dirty="0">
                <a:solidFill>
                  <a:schemeClr val="tx1"/>
                </a:solidFill>
              </a:rPr>
              <a:t>React </a:t>
            </a:r>
          </a:p>
          <a:p>
            <a:pPr marL="285750" indent="-285750">
              <a:buFont typeface="Arial" panose="020B0604020202020204" pitchFamily="34" charset="0"/>
              <a:buChar char="•"/>
            </a:pPr>
            <a:r>
              <a:rPr lang="en-US" sz="1400" dirty="0">
                <a:solidFill>
                  <a:schemeClr val="tx1"/>
                </a:solidFill>
              </a:rPr>
              <a:t>TypeScript </a:t>
            </a:r>
          </a:p>
          <a:p>
            <a:pPr marL="285750" indent="-285750">
              <a:buFont typeface="Arial" panose="020B0604020202020204" pitchFamily="34" charset="0"/>
              <a:buChar char="•"/>
            </a:pPr>
            <a:r>
              <a:rPr lang="en-US" sz="1400" dirty="0">
                <a:solidFill>
                  <a:schemeClr val="tx1"/>
                </a:solidFill>
              </a:rPr>
              <a:t>Tailwind CSS</a:t>
            </a:r>
            <a:endParaRPr lang="en-US" sz="1400" dirty="0"/>
          </a:p>
        </p:txBody>
      </p:sp>
      <p:sp>
        <p:nvSpPr>
          <p:cNvPr id="7" name="Stack Backend"/>
          <p:cNvSpPr/>
          <p:nvPr/>
        </p:nvSpPr>
        <p:spPr>
          <a:xfrm>
            <a:off x="3291840" y="1463040"/>
            <a:ext cx="2606040" cy="1463040"/>
          </a:xfrm>
          <a:prstGeom prst="roundRect">
            <a:avLst>
              <a:gd name="adj" fmla="val 5000"/>
            </a:avLst>
          </a:prstGeom>
          <a:solidFill>
            <a:schemeClr val="bg2"/>
          </a:solidFill>
          <a:ln/>
        </p:spPr>
      </p:sp>
      <p:sp>
        <p:nvSpPr>
          <p:cNvPr id="8" name="Text 6"/>
          <p:cNvSpPr txBox="1"/>
          <p:nvPr/>
        </p:nvSpPr>
        <p:spPr>
          <a:xfrm>
            <a:off x="3474720" y="1600200"/>
            <a:ext cx="228600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BACKEND</a:t>
            </a:r>
            <a:endParaRPr lang="en-US" sz="1200" dirty="0"/>
          </a:p>
        </p:txBody>
      </p:sp>
      <p:sp>
        <p:nvSpPr>
          <p:cNvPr id="9" name="Text 7"/>
          <p:cNvSpPr txBox="1"/>
          <p:nvPr/>
        </p:nvSpPr>
        <p:spPr>
          <a:xfrm>
            <a:off x="3474720" y="1920240"/>
            <a:ext cx="2286000" cy="91440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400" dirty="0">
                <a:solidFill>
                  <a:schemeClr val="tx1"/>
                </a:solidFill>
              </a:rPr>
              <a:t>Node.js  </a:t>
            </a:r>
          </a:p>
          <a:p>
            <a:pPr marL="285750" indent="-285750">
              <a:buFont typeface="Arial" panose="020B0604020202020204" pitchFamily="34" charset="0"/>
              <a:buChar char="•"/>
            </a:pPr>
            <a:r>
              <a:rPr lang="en-US" sz="1400" dirty="0">
                <a:solidFill>
                  <a:schemeClr val="tx1"/>
                </a:solidFill>
              </a:rPr>
              <a:t>Express (or NestJS)</a:t>
            </a:r>
            <a:endParaRPr lang="en-US" sz="1400" dirty="0"/>
          </a:p>
        </p:txBody>
      </p:sp>
      <p:sp>
        <p:nvSpPr>
          <p:cNvPr id="10" name="Stack ML &amp; Explainability"/>
          <p:cNvSpPr/>
          <p:nvPr/>
        </p:nvSpPr>
        <p:spPr>
          <a:xfrm>
            <a:off x="548640" y="3063240"/>
            <a:ext cx="2606040" cy="3063240"/>
          </a:xfrm>
          <a:prstGeom prst="roundRect">
            <a:avLst>
              <a:gd name="adj" fmla="val 5000"/>
            </a:avLst>
          </a:prstGeom>
          <a:solidFill>
            <a:schemeClr val="tx2"/>
          </a:solidFill>
          <a:ln/>
        </p:spPr>
      </p:sp>
      <p:sp>
        <p:nvSpPr>
          <p:cNvPr id="11" name="Text 9"/>
          <p:cNvSpPr txBox="1"/>
          <p:nvPr/>
        </p:nvSpPr>
        <p:spPr>
          <a:xfrm>
            <a:off x="731520" y="3200400"/>
            <a:ext cx="228600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ML &amp; EXPLAINABILITY</a:t>
            </a:r>
            <a:endParaRPr lang="en-US" sz="1200" dirty="0"/>
          </a:p>
        </p:txBody>
      </p:sp>
      <p:sp>
        <p:nvSpPr>
          <p:cNvPr id="12" name="Text 10"/>
          <p:cNvSpPr txBox="1"/>
          <p:nvPr/>
        </p:nvSpPr>
        <p:spPr>
          <a:xfrm>
            <a:off x="731520" y="3520440"/>
            <a:ext cx="2286000" cy="2484568"/>
          </a:xfrm>
          <a:prstGeom prst="rect">
            <a:avLst/>
          </a:prstGeom>
          <a:noFill/>
          <a:ln/>
        </p:spPr>
        <p:txBody>
          <a:bodyPr wrap="square" lIns="0" tIns="0" rIns="0" bIns="0" rtlCol="0" anchor="t"/>
          <a:lstStyle/>
          <a:p>
            <a:pPr marL="285750" indent="-285750">
              <a:buFont typeface="Arial" panose="020B0604020202020204" pitchFamily="34" charset="0"/>
              <a:buChar char="•"/>
            </a:pPr>
            <a:r>
              <a:rPr lang="en-US" dirty="0">
                <a:solidFill>
                  <a:schemeClr val="bg1"/>
                </a:solidFill>
              </a:rPr>
              <a:t>Python </a:t>
            </a:r>
          </a:p>
          <a:p>
            <a:pPr marL="285750" indent="-285750">
              <a:buFont typeface="Arial" panose="020B0604020202020204" pitchFamily="34" charset="0"/>
              <a:buChar char="•"/>
            </a:pPr>
            <a:r>
              <a:rPr lang="en-US" dirty="0" err="1">
                <a:solidFill>
                  <a:schemeClr val="bg1"/>
                </a:solidFill>
              </a:rPr>
              <a:t>FastAPI</a:t>
            </a:r>
            <a:r>
              <a:rPr lang="en-US" dirty="0">
                <a:solidFill>
                  <a:schemeClr val="bg1"/>
                </a:solidFill>
              </a:rPr>
              <a:t> </a:t>
            </a:r>
          </a:p>
          <a:p>
            <a:pPr marL="285750" indent="-285750">
              <a:buFont typeface="Arial" panose="020B0604020202020204" pitchFamily="34" charset="0"/>
              <a:buChar char="•"/>
            </a:pPr>
            <a:r>
              <a:rPr lang="en-US" dirty="0">
                <a:solidFill>
                  <a:schemeClr val="bg1"/>
                </a:solidFill>
              </a:rPr>
              <a:t>Pandas </a:t>
            </a:r>
          </a:p>
          <a:p>
            <a:pPr marL="285750" indent="-285750">
              <a:buFont typeface="Arial" panose="020B0604020202020204" pitchFamily="34" charset="0"/>
              <a:buChar char="•"/>
            </a:pPr>
            <a:r>
              <a:rPr lang="en-US" dirty="0">
                <a:solidFill>
                  <a:schemeClr val="bg1"/>
                </a:solidFill>
              </a:rPr>
              <a:t>NumPy </a:t>
            </a:r>
          </a:p>
          <a:p>
            <a:pPr marL="285750" indent="-285750">
              <a:buFont typeface="Arial" panose="020B0604020202020204" pitchFamily="34" charset="0"/>
              <a:buChar char="•"/>
            </a:pPr>
            <a:r>
              <a:rPr lang="en-US" dirty="0">
                <a:solidFill>
                  <a:schemeClr val="bg1"/>
                </a:solidFill>
              </a:rPr>
              <a:t>scikit-learn </a:t>
            </a:r>
          </a:p>
          <a:p>
            <a:pPr marL="285750" indent="-285750">
              <a:buFont typeface="Arial" panose="020B0604020202020204" pitchFamily="34" charset="0"/>
              <a:buChar char="•"/>
            </a:pPr>
            <a:r>
              <a:rPr lang="en-US" dirty="0" err="1">
                <a:solidFill>
                  <a:schemeClr val="bg1"/>
                </a:solidFill>
              </a:rPr>
              <a:t>XGBoost</a:t>
            </a:r>
            <a:r>
              <a:rPr lang="en-US" dirty="0">
                <a:solidFill>
                  <a:schemeClr val="bg1"/>
                </a:solidFill>
              </a:rPr>
              <a:t> / </a:t>
            </a:r>
            <a:r>
              <a:rPr lang="en-US" dirty="0" err="1">
                <a:solidFill>
                  <a:schemeClr val="bg1"/>
                </a:solidFill>
              </a:rPr>
              <a:t>LightGBM</a:t>
            </a:r>
            <a:r>
              <a:rPr lang="en-US" dirty="0">
                <a:solidFill>
                  <a:schemeClr val="bg1"/>
                </a:solidFill>
              </a:rPr>
              <a:t> </a:t>
            </a:r>
          </a:p>
          <a:p>
            <a:pPr marL="285750" indent="-285750">
              <a:buFont typeface="Arial" panose="020B0604020202020204" pitchFamily="34" charset="0"/>
              <a:buChar char="•"/>
            </a:pPr>
            <a:r>
              <a:rPr lang="en-US" dirty="0">
                <a:solidFill>
                  <a:schemeClr val="bg1"/>
                </a:solidFill>
              </a:rPr>
              <a:t> SHAP</a:t>
            </a:r>
            <a:endParaRPr lang="en-US" dirty="0"/>
          </a:p>
        </p:txBody>
      </p:sp>
      <p:sp>
        <p:nvSpPr>
          <p:cNvPr id="13" name="Stack Data"/>
          <p:cNvSpPr/>
          <p:nvPr/>
        </p:nvSpPr>
        <p:spPr>
          <a:xfrm>
            <a:off x="3291840" y="3063240"/>
            <a:ext cx="2606040" cy="1463040"/>
          </a:xfrm>
          <a:prstGeom prst="roundRect">
            <a:avLst>
              <a:gd name="adj" fmla="val 5000"/>
            </a:avLst>
          </a:prstGeom>
          <a:solidFill>
            <a:schemeClr val="bg2"/>
          </a:solidFill>
          <a:ln/>
        </p:spPr>
      </p:sp>
      <p:sp>
        <p:nvSpPr>
          <p:cNvPr id="14" name="Text 12"/>
          <p:cNvSpPr txBox="1"/>
          <p:nvPr/>
        </p:nvSpPr>
        <p:spPr>
          <a:xfrm>
            <a:off x="3474720" y="3200400"/>
            <a:ext cx="228600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DATA</a:t>
            </a:r>
            <a:endParaRPr lang="en-US" sz="1200" dirty="0"/>
          </a:p>
        </p:txBody>
      </p:sp>
      <p:sp>
        <p:nvSpPr>
          <p:cNvPr id="15" name="Text 13"/>
          <p:cNvSpPr txBox="1"/>
          <p:nvPr/>
        </p:nvSpPr>
        <p:spPr>
          <a:xfrm>
            <a:off x="3474720" y="3520440"/>
            <a:ext cx="2286000" cy="91440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400" dirty="0">
                <a:solidFill>
                  <a:schemeClr val="tx1"/>
                </a:solidFill>
              </a:rPr>
              <a:t>PostgreSQL </a:t>
            </a:r>
          </a:p>
          <a:p>
            <a:pPr marL="285750" indent="-285750">
              <a:buFont typeface="Arial" panose="020B0604020202020204" pitchFamily="34" charset="0"/>
              <a:buChar char="•"/>
            </a:pPr>
            <a:r>
              <a:rPr lang="en-US" sz="1400" dirty="0">
                <a:solidFill>
                  <a:schemeClr val="tx1"/>
                </a:solidFill>
              </a:rPr>
              <a:t>Redis</a:t>
            </a:r>
            <a:endParaRPr lang="en-US" sz="1400" dirty="0"/>
          </a:p>
        </p:txBody>
      </p:sp>
      <p:sp>
        <p:nvSpPr>
          <p:cNvPr id="19" name="Stack DevOps"/>
          <p:cNvSpPr/>
          <p:nvPr/>
        </p:nvSpPr>
        <p:spPr>
          <a:xfrm>
            <a:off x="3291840" y="4663440"/>
            <a:ext cx="2606040" cy="1463040"/>
          </a:xfrm>
          <a:prstGeom prst="roundRect">
            <a:avLst>
              <a:gd name="adj" fmla="val 5000"/>
            </a:avLst>
          </a:prstGeom>
          <a:solidFill>
            <a:schemeClr val="bg2"/>
          </a:solidFill>
          <a:ln/>
        </p:spPr>
      </p:sp>
      <p:sp>
        <p:nvSpPr>
          <p:cNvPr id="22" name="Text 20"/>
          <p:cNvSpPr txBox="1"/>
          <p:nvPr/>
        </p:nvSpPr>
        <p:spPr>
          <a:xfrm>
            <a:off x="6309360" y="1463040"/>
            <a:ext cx="530352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BUILD PLAN</a:t>
            </a:r>
            <a:endParaRPr lang="en-US" sz="1200" dirty="0"/>
          </a:p>
        </p:txBody>
      </p:sp>
      <p:sp>
        <p:nvSpPr>
          <p:cNvPr id="23" name="Shape 21"/>
          <p:cNvSpPr/>
          <p:nvPr/>
        </p:nvSpPr>
        <p:spPr>
          <a:xfrm>
            <a:off x="6812280" y="2057400"/>
            <a:ext cx="4206240" cy="0"/>
          </a:xfrm>
          <a:prstGeom prst="line">
            <a:avLst/>
          </a:prstGeom>
          <a:noFill/>
          <a:ln w="25400">
            <a:solidFill>
              <a:srgbClr val="CBD5E1"/>
            </a:solidFill>
            <a:prstDash val="solid"/>
          </a:ln>
        </p:spPr>
      </p:sp>
      <p:sp>
        <p:nvSpPr>
          <p:cNvPr id="24" name="Phase 1"/>
          <p:cNvSpPr/>
          <p:nvPr/>
        </p:nvSpPr>
        <p:spPr>
          <a:xfrm>
            <a:off x="6611112" y="1828800"/>
            <a:ext cx="457200" cy="457200"/>
          </a:xfrm>
          <a:prstGeom prst="ellipse">
            <a:avLst/>
          </a:prstGeom>
          <a:solidFill>
            <a:schemeClr val="accent1"/>
          </a:solidFill>
          <a:ln w="25400">
            <a:solidFill>
              <a:schemeClr val="bg1"/>
            </a:solidFill>
            <a:prstDash val="solid"/>
          </a:ln>
        </p:spPr>
      </p:sp>
      <p:sp>
        <p:nvSpPr>
          <p:cNvPr id="25" name="Text 23"/>
          <p:cNvSpPr txBox="1"/>
          <p:nvPr/>
        </p:nvSpPr>
        <p:spPr>
          <a:xfrm>
            <a:off x="6611112" y="182880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6" name="Text 24"/>
          <p:cNvSpPr txBox="1"/>
          <p:nvPr/>
        </p:nvSpPr>
        <p:spPr>
          <a:xfrm>
            <a:off x="6309360" y="2377440"/>
            <a:ext cx="1060704" cy="1051560"/>
          </a:xfrm>
          <a:prstGeom prst="rect">
            <a:avLst/>
          </a:prstGeom>
          <a:noFill/>
          <a:ln/>
        </p:spPr>
        <p:txBody>
          <a:bodyPr wrap="square" lIns="0" tIns="0" rIns="0" bIns="0" rtlCol="0" anchor="t"/>
          <a:lstStyle/>
          <a:p>
            <a:pPr marL="0" indent="0" algn="ctr">
              <a:buNone/>
            </a:pPr>
            <a:r>
              <a:rPr lang="en-US" sz="1200" b="1" dirty="0">
                <a:solidFill>
                  <a:schemeClr val="tx2"/>
                </a:solidFill>
              </a:rPr>
              <a:t>Dataset &amp; preprocessing</a:t>
            </a:r>
            <a:endParaRPr lang="en-US" sz="1200" dirty="0"/>
          </a:p>
          <a:p>
            <a:pPr marL="0" indent="0" algn="ctr">
              <a:buNone/>
            </a:pPr>
            <a:r>
              <a:rPr lang="en-US" sz="1100" dirty="0">
                <a:solidFill>
                  <a:schemeClr val="accent6"/>
                </a:solidFill>
              </a:rPr>
              <a:t>Clean data, feature pipeline</a:t>
            </a:r>
            <a:endParaRPr lang="en-US" sz="1200" dirty="0"/>
          </a:p>
        </p:txBody>
      </p:sp>
      <p:sp>
        <p:nvSpPr>
          <p:cNvPr id="27" name="Phase 2"/>
          <p:cNvSpPr/>
          <p:nvPr/>
        </p:nvSpPr>
        <p:spPr>
          <a:xfrm>
            <a:off x="7677302" y="1828800"/>
            <a:ext cx="457200" cy="457200"/>
          </a:xfrm>
          <a:prstGeom prst="ellipse">
            <a:avLst/>
          </a:prstGeom>
          <a:solidFill>
            <a:schemeClr val="accent1"/>
          </a:solidFill>
          <a:ln w="25400">
            <a:solidFill>
              <a:schemeClr val="bg1"/>
            </a:solidFill>
            <a:prstDash val="solid"/>
          </a:ln>
        </p:spPr>
      </p:sp>
      <p:sp>
        <p:nvSpPr>
          <p:cNvPr id="28" name="Text 26"/>
          <p:cNvSpPr txBox="1"/>
          <p:nvPr/>
        </p:nvSpPr>
        <p:spPr>
          <a:xfrm>
            <a:off x="7677302" y="182880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9" name="Text 27"/>
          <p:cNvSpPr txBox="1"/>
          <p:nvPr/>
        </p:nvSpPr>
        <p:spPr>
          <a:xfrm>
            <a:off x="7375550" y="2377440"/>
            <a:ext cx="1060704" cy="1051560"/>
          </a:xfrm>
          <a:prstGeom prst="rect">
            <a:avLst/>
          </a:prstGeom>
          <a:noFill/>
          <a:ln/>
        </p:spPr>
        <p:txBody>
          <a:bodyPr wrap="square" lIns="0" tIns="0" rIns="0" bIns="0" rtlCol="0" anchor="t"/>
          <a:lstStyle/>
          <a:p>
            <a:pPr marL="0" indent="0" algn="ctr">
              <a:buNone/>
            </a:pPr>
            <a:r>
              <a:rPr lang="en-US" sz="1200" b="1" dirty="0">
                <a:solidFill>
                  <a:schemeClr val="tx2"/>
                </a:solidFill>
              </a:rPr>
              <a:t>ML model</a:t>
            </a:r>
            <a:endParaRPr lang="en-US" sz="1200" dirty="0"/>
          </a:p>
          <a:p>
            <a:pPr marL="0" indent="0" algn="ctr">
              <a:buNone/>
            </a:pPr>
            <a:r>
              <a:rPr lang="en-US" sz="1100" dirty="0">
                <a:solidFill>
                  <a:schemeClr val="accent6"/>
                </a:solidFill>
              </a:rPr>
              <a:t>Trained model, metrics, SHAP</a:t>
            </a:r>
            <a:endParaRPr lang="en-US" sz="1200" dirty="0"/>
          </a:p>
        </p:txBody>
      </p:sp>
      <p:sp>
        <p:nvSpPr>
          <p:cNvPr id="30" name="Phase 3"/>
          <p:cNvSpPr/>
          <p:nvPr/>
        </p:nvSpPr>
        <p:spPr>
          <a:xfrm>
            <a:off x="8743493" y="1828800"/>
            <a:ext cx="457200" cy="457200"/>
          </a:xfrm>
          <a:prstGeom prst="ellipse">
            <a:avLst/>
          </a:prstGeom>
          <a:solidFill>
            <a:schemeClr val="accent1"/>
          </a:solidFill>
          <a:ln w="25400">
            <a:solidFill>
              <a:schemeClr val="bg1"/>
            </a:solidFill>
            <a:prstDash val="solid"/>
          </a:ln>
        </p:spPr>
      </p:sp>
      <p:sp>
        <p:nvSpPr>
          <p:cNvPr id="31" name="Text 29"/>
          <p:cNvSpPr txBox="1"/>
          <p:nvPr/>
        </p:nvSpPr>
        <p:spPr>
          <a:xfrm>
            <a:off x="8743493" y="182880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32" name="Text 30"/>
          <p:cNvSpPr txBox="1"/>
          <p:nvPr/>
        </p:nvSpPr>
        <p:spPr>
          <a:xfrm>
            <a:off x="8441741" y="2377440"/>
            <a:ext cx="1060704" cy="1051560"/>
          </a:xfrm>
          <a:prstGeom prst="rect">
            <a:avLst/>
          </a:prstGeom>
          <a:noFill/>
          <a:ln/>
        </p:spPr>
        <p:txBody>
          <a:bodyPr wrap="square" lIns="0" tIns="0" rIns="0" bIns="0" rtlCol="0" anchor="t"/>
          <a:lstStyle/>
          <a:p>
            <a:pPr marL="0" indent="0" algn="ctr">
              <a:buNone/>
            </a:pPr>
            <a:r>
              <a:rPr lang="en-US" sz="1200" b="1" dirty="0">
                <a:solidFill>
                  <a:schemeClr val="tx2"/>
                </a:solidFill>
              </a:rPr>
              <a:t>Backend / API</a:t>
            </a:r>
            <a:endParaRPr lang="en-US" sz="1200" dirty="0"/>
          </a:p>
          <a:p>
            <a:pPr marL="0" indent="0" algn="ctr">
              <a:buNone/>
            </a:pPr>
            <a:r>
              <a:rPr lang="en-US" sz="1100" dirty="0">
                <a:solidFill>
                  <a:schemeClr val="accent6"/>
                </a:solidFill>
              </a:rPr>
              <a:t>Auth, patients, /predict</a:t>
            </a:r>
            <a:endParaRPr lang="en-US" sz="1200" dirty="0"/>
          </a:p>
        </p:txBody>
      </p:sp>
      <p:sp>
        <p:nvSpPr>
          <p:cNvPr id="33" name="Phase 4"/>
          <p:cNvSpPr/>
          <p:nvPr/>
        </p:nvSpPr>
        <p:spPr>
          <a:xfrm>
            <a:off x="9809683" y="1828800"/>
            <a:ext cx="457200" cy="457200"/>
          </a:xfrm>
          <a:prstGeom prst="ellipse">
            <a:avLst/>
          </a:prstGeom>
          <a:solidFill>
            <a:schemeClr val="accent1"/>
          </a:solidFill>
          <a:ln w="25400">
            <a:solidFill>
              <a:schemeClr val="bg1"/>
            </a:solidFill>
            <a:prstDash val="solid"/>
          </a:ln>
        </p:spPr>
      </p:sp>
      <p:sp>
        <p:nvSpPr>
          <p:cNvPr id="34" name="Text 32"/>
          <p:cNvSpPr txBox="1"/>
          <p:nvPr/>
        </p:nvSpPr>
        <p:spPr>
          <a:xfrm>
            <a:off x="9809683" y="182880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35" name="Text 33"/>
          <p:cNvSpPr txBox="1"/>
          <p:nvPr/>
        </p:nvSpPr>
        <p:spPr>
          <a:xfrm>
            <a:off x="9507931" y="2377440"/>
            <a:ext cx="1060704" cy="1051560"/>
          </a:xfrm>
          <a:prstGeom prst="rect">
            <a:avLst/>
          </a:prstGeom>
          <a:noFill/>
          <a:ln/>
        </p:spPr>
        <p:txBody>
          <a:bodyPr wrap="square" lIns="0" tIns="0" rIns="0" bIns="0" rtlCol="0" anchor="t"/>
          <a:lstStyle/>
          <a:p>
            <a:pPr marL="0" indent="0" algn="ctr">
              <a:buNone/>
            </a:pPr>
            <a:r>
              <a:rPr lang="en-US" sz="1200" b="1" dirty="0">
                <a:solidFill>
                  <a:schemeClr val="tx2"/>
                </a:solidFill>
              </a:rPr>
              <a:t>Frontend dashboard</a:t>
            </a:r>
            <a:endParaRPr lang="en-US" sz="1200" dirty="0"/>
          </a:p>
          <a:p>
            <a:pPr marL="0" indent="0" algn="ctr">
              <a:buNone/>
            </a:pPr>
            <a:r>
              <a:rPr lang="en-US" sz="1100" dirty="0">
                <a:solidFill>
                  <a:schemeClr val="accent6"/>
                </a:solidFill>
              </a:rPr>
              <a:t>Form, risk card, ranked list</a:t>
            </a:r>
            <a:endParaRPr lang="en-US" sz="1200" dirty="0"/>
          </a:p>
        </p:txBody>
      </p:sp>
      <p:sp>
        <p:nvSpPr>
          <p:cNvPr id="36" name="Phase 5"/>
          <p:cNvSpPr/>
          <p:nvPr/>
        </p:nvSpPr>
        <p:spPr>
          <a:xfrm>
            <a:off x="10875874" y="1828800"/>
            <a:ext cx="457200" cy="457200"/>
          </a:xfrm>
          <a:prstGeom prst="ellipse">
            <a:avLst/>
          </a:prstGeom>
          <a:solidFill>
            <a:schemeClr val="tx2"/>
          </a:solidFill>
          <a:ln w="25400">
            <a:solidFill>
              <a:schemeClr val="bg1"/>
            </a:solidFill>
            <a:prstDash val="solid"/>
          </a:ln>
        </p:spPr>
      </p:sp>
      <p:sp>
        <p:nvSpPr>
          <p:cNvPr id="37" name="Text 35"/>
          <p:cNvSpPr txBox="1"/>
          <p:nvPr/>
        </p:nvSpPr>
        <p:spPr>
          <a:xfrm>
            <a:off x="10875874" y="182880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38" name="Text 36"/>
          <p:cNvSpPr txBox="1"/>
          <p:nvPr/>
        </p:nvSpPr>
        <p:spPr>
          <a:xfrm>
            <a:off x="10574122" y="2377440"/>
            <a:ext cx="1060704" cy="1051560"/>
          </a:xfrm>
          <a:prstGeom prst="rect">
            <a:avLst/>
          </a:prstGeom>
          <a:noFill/>
          <a:ln/>
        </p:spPr>
        <p:txBody>
          <a:bodyPr wrap="square" lIns="0" tIns="0" rIns="0" bIns="0" rtlCol="0" anchor="t"/>
          <a:lstStyle/>
          <a:p>
            <a:pPr marL="0" indent="0" algn="ctr">
              <a:buNone/>
            </a:pPr>
            <a:r>
              <a:rPr lang="en-US" sz="1200" b="1" dirty="0">
                <a:solidFill>
                  <a:schemeClr val="tx2"/>
                </a:solidFill>
              </a:rPr>
              <a:t>Integrate, test, demo</a:t>
            </a:r>
            <a:endParaRPr lang="en-US" sz="1200" dirty="0"/>
          </a:p>
          <a:p>
            <a:pPr marL="0" indent="0" algn="ctr">
              <a:buNone/>
            </a:pPr>
            <a:r>
              <a:rPr lang="en-US" sz="1100" dirty="0">
                <a:solidFill>
                  <a:schemeClr val="accent6"/>
                </a:solidFill>
              </a:rPr>
              <a:t>Dockerised end-to-end</a:t>
            </a:r>
            <a:endParaRPr lang="en-US" sz="1200" dirty="0"/>
          </a:p>
        </p:txBody>
      </p:sp>
      <p:sp>
        <p:nvSpPr>
          <p:cNvPr id="39" name="Scope HACKATHON DELIVERABLES"/>
          <p:cNvSpPr/>
          <p:nvPr/>
        </p:nvSpPr>
        <p:spPr>
          <a:xfrm>
            <a:off x="6309360" y="3611880"/>
            <a:ext cx="2587752" cy="2560320"/>
          </a:xfrm>
          <a:prstGeom prst="roundRect">
            <a:avLst>
              <a:gd name="adj" fmla="val 2857"/>
            </a:avLst>
          </a:prstGeom>
          <a:solidFill>
            <a:schemeClr val="accent1">
              <a:alpha val="12000"/>
            </a:schemeClr>
          </a:solidFill>
          <a:ln w="12700">
            <a:solidFill>
              <a:schemeClr val="accent1"/>
            </a:solidFill>
            <a:prstDash val="solid"/>
          </a:ln>
        </p:spPr>
      </p:sp>
      <p:sp>
        <p:nvSpPr>
          <p:cNvPr id="40" name="Text 38"/>
          <p:cNvSpPr txBox="1"/>
          <p:nvPr/>
        </p:nvSpPr>
        <p:spPr>
          <a:xfrm>
            <a:off x="6492240" y="3703320"/>
            <a:ext cx="2286000" cy="320040"/>
          </a:xfrm>
          <a:prstGeom prst="rect">
            <a:avLst/>
          </a:prstGeom>
          <a:noFill/>
          <a:ln/>
        </p:spPr>
        <p:txBody>
          <a:bodyPr wrap="square" lIns="0" tIns="0" rIns="0" bIns="0" rtlCol="0" anchor="ctr"/>
          <a:lstStyle/>
          <a:p>
            <a:pPr marL="0" indent="0">
              <a:buNone/>
            </a:pPr>
            <a:r>
              <a:rPr lang="en-US" sz="1200" b="1" kern="0" spc="100" dirty="0">
                <a:solidFill>
                  <a:schemeClr val="accent1"/>
                </a:solidFill>
              </a:rPr>
              <a:t>HACKATHON DELIVERABLES</a:t>
            </a:r>
            <a:endParaRPr lang="en-US" sz="1200" dirty="0"/>
          </a:p>
        </p:txBody>
      </p:sp>
      <p:sp>
        <p:nvSpPr>
          <p:cNvPr id="41" name="Text 39"/>
          <p:cNvSpPr txBox="1"/>
          <p:nvPr/>
        </p:nvSpPr>
        <p:spPr>
          <a:xfrm>
            <a:off x="6446520" y="4069080"/>
            <a:ext cx="2377440" cy="20574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Trained model + metrics</a:t>
            </a:r>
            <a:endParaRPr lang="en-US" sz="1300" dirty="0"/>
          </a:p>
          <a:p>
            <a:pPr marL="342900" indent="-342900">
              <a:spcAft>
                <a:spcPts val="300"/>
              </a:spcAft>
              <a:buSzPct val="100000"/>
              <a:buChar char="•"/>
            </a:pPr>
            <a:r>
              <a:rPr lang="en-US" sz="1300" dirty="0">
                <a:solidFill>
                  <a:schemeClr val="tx1"/>
                </a:solidFill>
              </a:rPr>
              <a:t>Predict + SHAP API</a:t>
            </a:r>
            <a:endParaRPr lang="en-US" sz="1300" dirty="0"/>
          </a:p>
          <a:p>
            <a:pPr marL="342900" indent="-342900">
              <a:spcAft>
                <a:spcPts val="300"/>
              </a:spcAft>
              <a:buSzPct val="100000"/>
              <a:buChar char="•"/>
            </a:pPr>
            <a:r>
              <a:rPr lang="en-US" sz="1300" dirty="0">
                <a:solidFill>
                  <a:schemeClr val="tx1"/>
                </a:solidFill>
              </a:rPr>
              <a:t>React dashboard</a:t>
            </a:r>
            <a:endParaRPr lang="en-US" sz="1300" dirty="0"/>
          </a:p>
          <a:p>
            <a:pPr marL="342900" indent="-342900">
              <a:spcAft>
                <a:spcPts val="300"/>
              </a:spcAft>
              <a:buSzPct val="100000"/>
              <a:buChar char="•"/>
            </a:pPr>
            <a:r>
              <a:rPr lang="en-US" sz="1300" dirty="0">
                <a:solidFill>
                  <a:schemeClr val="tx1"/>
                </a:solidFill>
              </a:rPr>
              <a:t>JWT login + roles</a:t>
            </a:r>
            <a:endParaRPr lang="en-US" sz="1300" dirty="0"/>
          </a:p>
          <a:p>
            <a:pPr marL="342900" indent="-342900">
              <a:spcAft>
                <a:spcPts val="300"/>
              </a:spcAft>
              <a:buSzPct val="100000"/>
              <a:buChar char="•"/>
            </a:pPr>
            <a:r>
              <a:rPr lang="en-US" sz="1300" dirty="0">
                <a:solidFill>
                  <a:schemeClr val="tx1"/>
                </a:solidFill>
              </a:rPr>
              <a:t>PostgreSQL storage</a:t>
            </a:r>
            <a:endParaRPr lang="en-US" sz="1300" dirty="0"/>
          </a:p>
          <a:p>
            <a:pPr marL="342900" indent="-342900">
              <a:spcAft>
                <a:spcPts val="300"/>
              </a:spcAft>
              <a:buSzPct val="100000"/>
              <a:buChar char="•"/>
            </a:pPr>
            <a:r>
              <a:rPr lang="en-US" sz="1300" dirty="0">
                <a:solidFill>
                  <a:schemeClr val="tx1"/>
                </a:solidFill>
              </a:rPr>
              <a:t>Risk-ranked patient list</a:t>
            </a:r>
            <a:endParaRPr lang="en-US" sz="1300" dirty="0"/>
          </a:p>
          <a:p>
            <a:pPr marL="342900" indent="-342900">
              <a:spcAft>
                <a:spcPts val="300"/>
              </a:spcAft>
              <a:buSzPct val="100000"/>
              <a:buChar char="•"/>
            </a:pPr>
            <a:r>
              <a:rPr lang="en-US" sz="1300" dirty="0">
                <a:solidFill>
                  <a:schemeClr val="tx1"/>
                </a:solidFill>
              </a:rPr>
              <a:t>Docker Compose setup</a:t>
            </a:r>
            <a:endParaRPr lang="en-US" sz="1300" dirty="0"/>
          </a:p>
        </p:txBody>
      </p:sp>
      <p:sp>
        <p:nvSpPr>
          <p:cNvPr id="42" name="Scope FUTURE ENHANCEMENTS"/>
          <p:cNvSpPr/>
          <p:nvPr/>
        </p:nvSpPr>
        <p:spPr>
          <a:xfrm>
            <a:off x="9006840" y="3611880"/>
            <a:ext cx="2587752" cy="2560320"/>
          </a:xfrm>
          <a:prstGeom prst="roundRect">
            <a:avLst>
              <a:gd name="adj" fmla="val 2857"/>
            </a:avLst>
          </a:prstGeom>
          <a:solidFill>
            <a:schemeClr val="bg2"/>
          </a:solidFill>
          <a:ln w="9525">
            <a:solidFill>
              <a:srgbClr val="CBD5E1"/>
            </a:solidFill>
            <a:prstDash val="dash"/>
          </a:ln>
        </p:spPr>
      </p:sp>
      <p:sp>
        <p:nvSpPr>
          <p:cNvPr id="43" name="Text 41"/>
          <p:cNvSpPr txBox="1"/>
          <p:nvPr/>
        </p:nvSpPr>
        <p:spPr>
          <a:xfrm>
            <a:off x="9189720" y="3703320"/>
            <a:ext cx="2286000" cy="320040"/>
          </a:xfrm>
          <a:prstGeom prst="rect">
            <a:avLst/>
          </a:prstGeom>
          <a:noFill/>
          <a:ln/>
        </p:spPr>
        <p:txBody>
          <a:bodyPr wrap="square" lIns="0" tIns="0" rIns="0" bIns="0" rtlCol="0" anchor="ctr"/>
          <a:lstStyle/>
          <a:p>
            <a:pPr marL="0" indent="0">
              <a:buNone/>
            </a:pPr>
            <a:r>
              <a:rPr lang="en-US" sz="1200" b="1" kern="0" spc="100" dirty="0">
                <a:solidFill>
                  <a:schemeClr val="accent6"/>
                </a:solidFill>
              </a:rPr>
              <a:t>FUTURE ENHANCEMENTS</a:t>
            </a:r>
            <a:endParaRPr lang="en-US" sz="1200" dirty="0"/>
          </a:p>
        </p:txBody>
      </p:sp>
      <p:sp>
        <p:nvSpPr>
          <p:cNvPr id="44" name="Text 42"/>
          <p:cNvSpPr txBox="1"/>
          <p:nvPr/>
        </p:nvSpPr>
        <p:spPr>
          <a:xfrm>
            <a:off x="9144000" y="4069080"/>
            <a:ext cx="2377440" cy="20574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EHR integration (HL7 FHIR)</a:t>
            </a:r>
            <a:endParaRPr lang="en-US" sz="1300" dirty="0"/>
          </a:p>
          <a:p>
            <a:pPr marL="342900" indent="-342900">
              <a:spcAft>
                <a:spcPts val="300"/>
              </a:spcAft>
              <a:buSzPct val="100000"/>
              <a:buChar char="•"/>
            </a:pPr>
            <a:r>
              <a:rPr lang="en-US" sz="1300" dirty="0">
                <a:solidFill>
                  <a:schemeClr val="tx1"/>
                </a:solidFill>
              </a:rPr>
              <a:t>Fairness &amp; bias audits</a:t>
            </a:r>
            <a:endParaRPr lang="en-US" sz="1300" dirty="0"/>
          </a:p>
          <a:p>
            <a:pPr marL="342900" indent="-342900">
              <a:spcAft>
                <a:spcPts val="300"/>
              </a:spcAft>
              <a:buSzPct val="100000"/>
              <a:buChar char="•"/>
            </a:pPr>
            <a:r>
              <a:rPr lang="en-US" sz="1300" dirty="0">
                <a:solidFill>
                  <a:schemeClr val="tx1"/>
                </a:solidFill>
              </a:rPr>
              <a:t>Monitoring &amp; drift detection</a:t>
            </a:r>
            <a:endParaRPr lang="en-US" sz="1300" dirty="0"/>
          </a:p>
          <a:p>
            <a:pPr marL="342900" indent="-342900">
              <a:spcAft>
                <a:spcPts val="300"/>
              </a:spcAft>
              <a:buSzPct val="100000"/>
              <a:buChar char="•"/>
            </a:pPr>
            <a:r>
              <a:rPr lang="en-US" sz="1300" dirty="0">
                <a:solidFill>
                  <a:schemeClr val="tx1"/>
                </a:solidFill>
              </a:rPr>
              <a:t>Clinical validation study</a:t>
            </a:r>
            <a:endParaRPr lang="en-US" sz="1300" dirty="0"/>
          </a:p>
          <a:p>
            <a:pPr marL="342900" indent="-342900">
              <a:spcAft>
                <a:spcPts val="300"/>
              </a:spcAft>
              <a:buSzPct val="100000"/>
              <a:buChar char="•"/>
            </a:pPr>
            <a:r>
              <a:rPr lang="en-US" sz="1300" dirty="0">
                <a:solidFill>
                  <a:schemeClr val="tx1"/>
                </a:solidFill>
              </a:rPr>
              <a:t>Automated follow-up workflows</a:t>
            </a:r>
            <a:endParaRPr lang="en-US" sz="1300" dirty="0"/>
          </a:p>
          <a:p>
            <a:pPr marL="342900" indent="-342900">
              <a:spcAft>
                <a:spcPts val="300"/>
              </a:spcAft>
              <a:buSzPct val="100000"/>
              <a:buChar char="•"/>
            </a:pPr>
            <a:r>
              <a:rPr lang="en-US" sz="1300" dirty="0">
                <a:solidFill>
                  <a:schemeClr val="tx1"/>
                </a:solidFill>
              </a:rPr>
              <a:t>Scheduled retraining</a:t>
            </a:r>
            <a:endParaRPr lang="en-US" sz="1300" dirty="0"/>
          </a:p>
        </p:txBody>
      </p:sp>
      <p:sp>
        <p:nvSpPr>
          <p:cNvPr id="4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endParaRPr lang="en-US" b="0" dirty="0"/>
          </a:p>
          <a:p>
            <a:pPr algn="r"/>
            <a:endParaRPr lang="en-US" dirty="0"/>
          </a:p>
        </p:txBody>
      </p:sp>
      <p:sp>
        <p:nvSpPr>
          <p:cNvPr id="47" name="Text 15">
            <a:extLst>
              <a:ext uri="{FF2B5EF4-FFF2-40B4-BE49-F238E27FC236}">
                <a16:creationId xmlns:a16="http://schemas.microsoft.com/office/drawing/2014/main" id="{64D43C9C-AC0E-5ED1-B682-A03F1C7AF61B}"/>
              </a:ext>
            </a:extLst>
          </p:cNvPr>
          <p:cNvSpPr txBox="1"/>
          <p:nvPr/>
        </p:nvSpPr>
        <p:spPr>
          <a:xfrm>
            <a:off x="3376108" y="4754880"/>
            <a:ext cx="228600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SECURITY</a:t>
            </a:r>
            <a:endParaRPr lang="en-US" sz="1200" dirty="0"/>
          </a:p>
        </p:txBody>
      </p:sp>
      <p:sp>
        <p:nvSpPr>
          <p:cNvPr id="18" name="Text 16"/>
          <p:cNvSpPr txBox="1"/>
          <p:nvPr/>
        </p:nvSpPr>
        <p:spPr>
          <a:xfrm>
            <a:off x="3451860" y="5090608"/>
            <a:ext cx="2286000" cy="91440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400" dirty="0">
                <a:solidFill>
                  <a:schemeClr val="tx1"/>
                </a:solidFill>
              </a:rPr>
              <a:t>JWT</a:t>
            </a:r>
          </a:p>
          <a:p>
            <a:pPr marL="285750" indent="-285750">
              <a:buFont typeface="Arial" panose="020B0604020202020204" pitchFamily="34" charset="0"/>
              <a:buChar char="•"/>
            </a:pPr>
            <a:r>
              <a:rPr lang="en-US" sz="1400" dirty="0">
                <a:solidFill>
                  <a:schemeClr val="tx1"/>
                </a:solidFill>
              </a:rPr>
              <a:t>Role-Based Access Control </a:t>
            </a:r>
          </a:p>
          <a:p>
            <a:pPr marL="285750" indent="-285750">
              <a:buFont typeface="Arial" panose="020B0604020202020204" pitchFamily="34" charset="0"/>
              <a:buChar char="•"/>
            </a:pPr>
            <a:r>
              <a:rPr lang="en-US" sz="1400" dirty="0">
                <a:solidFill>
                  <a:schemeClr val="tx1"/>
                </a:solidFill>
              </a:rPr>
              <a:t>HTTPS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06  ·  EXPECTED OUTCOMES &amp; DEMO PLAN</a:t>
            </a:r>
            <a:endParaRPr lang="en-US" sz="1200" dirty="0"/>
          </a:p>
        </p:txBody>
      </p:sp>
      <p:sp>
        <p:nvSpPr>
          <p:cNvPr id="3" name="Text 0"/>
          <p:cNvSpPr>
            <a:spLocks noGrp="1"/>
          </p:cNvSpPr>
          <p:nvPr>
            <p:ph type="title" idx="101" hasCustomPrompt="1"/>
          </p:nvPr>
        </p:nvSpPr>
        <p:spPr>
          <a:xfrm>
            <a:off x="548640" y="621792"/>
            <a:ext cx="11091672" cy="658368"/>
          </a:xfrm>
          <a:prstGeom prst="rect">
            <a:avLst/>
          </a:prstGeom>
          <a:noFill/>
          <a:ln/>
        </p:spPr>
        <p:txBody>
          <a:bodyPr wrap="square" lIns="0" tIns="0" rIns="0" bIns="0" rtlCol="0" anchor="ctr"/>
          <a:lstStyle/>
          <a:p>
            <a:pPr marL="0" indent="0" algn="l">
              <a:buNone/>
            </a:pPr>
            <a:r>
              <a:rPr lang="en-US" sz="3400" b="1" dirty="0">
                <a:solidFill>
                  <a:schemeClr val="tx2"/>
                </a:solidFill>
              </a:rPr>
              <a:t>What We Will Demonstrate</a:t>
            </a:r>
            <a:endParaRPr lang="en-US" sz="3400" dirty="0"/>
          </a:p>
        </p:txBody>
      </p:sp>
      <p:sp>
        <p:nvSpPr>
          <p:cNvPr id="4" name="Shape 2"/>
          <p:cNvSpPr/>
          <p:nvPr/>
        </p:nvSpPr>
        <p:spPr>
          <a:xfrm>
            <a:off x="1241755" y="1645920"/>
            <a:ext cx="9703613" cy="0"/>
          </a:xfrm>
          <a:prstGeom prst="line">
            <a:avLst/>
          </a:prstGeom>
          <a:noFill/>
          <a:ln w="25400">
            <a:solidFill>
              <a:srgbClr val="CBD5E1"/>
            </a:solidFill>
            <a:prstDash val="solid"/>
          </a:ln>
        </p:spPr>
      </p:sp>
      <p:sp>
        <p:nvSpPr>
          <p:cNvPr id="5" name="Demo 1"/>
          <p:cNvSpPr/>
          <p:nvPr/>
        </p:nvSpPr>
        <p:spPr>
          <a:xfrm>
            <a:off x="1036015" y="1435608"/>
            <a:ext cx="411480" cy="411480"/>
          </a:xfrm>
          <a:prstGeom prst="ellipse">
            <a:avLst/>
          </a:prstGeom>
          <a:solidFill>
            <a:schemeClr val="accent1"/>
          </a:solidFill>
          <a:ln w="25400">
            <a:solidFill>
              <a:schemeClr val="bg1"/>
            </a:solidFill>
            <a:prstDash val="solid"/>
          </a:ln>
        </p:spPr>
      </p:sp>
      <p:sp>
        <p:nvSpPr>
          <p:cNvPr id="6" name="Text 4"/>
          <p:cNvSpPr txBox="1"/>
          <p:nvPr/>
        </p:nvSpPr>
        <p:spPr>
          <a:xfrm>
            <a:off x="1036015" y="1435608"/>
            <a:ext cx="411480" cy="41148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7" name="Text 5"/>
          <p:cNvSpPr txBox="1"/>
          <p:nvPr/>
        </p:nvSpPr>
        <p:spPr>
          <a:xfrm>
            <a:off x="594360" y="1920240"/>
            <a:ext cx="1294790" cy="548640"/>
          </a:xfrm>
          <a:prstGeom prst="rect">
            <a:avLst/>
          </a:prstGeom>
          <a:noFill/>
          <a:ln/>
        </p:spPr>
        <p:txBody>
          <a:bodyPr wrap="square" lIns="0" tIns="0" rIns="0" bIns="0" rtlCol="0" anchor="t"/>
          <a:lstStyle/>
          <a:p>
            <a:pPr marL="0" indent="0" algn="ctr">
              <a:buNone/>
            </a:pPr>
            <a:r>
              <a:rPr lang="en-US" sz="1200" dirty="0">
                <a:solidFill>
                  <a:schemeClr val="tx1"/>
                </a:solidFill>
              </a:rPr>
              <a:t>Clinician logs in</a:t>
            </a:r>
            <a:endParaRPr lang="en-US" sz="1200" dirty="0"/>
          </a:p>
        </p:txBody>
      </p:sp>
      <p:sp>
        <p:nvSpPr>
          <p:cNvPr id="8" name="Demo 2"/>
          <p:cNvSpPr/>
          <p:nvPr/>
        </p:nvSpPr>
        <p:spPr>
          <a:xfrm>
            <a:off x="2422246" y="1435608"/>
            <a:ext cx="411480" cy="411480"/>
          </a:xfrm>
          <a:prstGeom prst="ellipse">
            <a:avLst/>
          </a:prstGeom>
          <a:solidFill>
            <a:schemeClr val="accent1"/>
          </a:solidFill>
          <a:ln w="25400">
            <a:solidFill>
              <a:schemeClr val="bg1"/>
            </a:solidFill>
            <a:prstDash val="solid"/>
          </a:ln>
        </p:spPr>
      </p:sp>
      <p:sp>
        <p:nvSpPr>
          <p:cNvPr id="9" name="Text 7"/>
          <p:cNvSpPr txBox="1"/>
          <p:nvPr/>
        </p:nvSpPr>
        <p:spPr>
          <a:xfrm>
            <a:off x="2422246" y="1435608"/>
            <a:ext cx="411480" cy="41148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0" name="Text 8"/>
          <p:cNvSpPr txBox="1"/>
          <p:nvPr/>
        </p:nvSpPr>
        <p:spPr>
          <a:xfrm>
            <a:off x="1980590" y="1920240"/>
            <a:ext cx="1294790" cy="548640"/>
          </a:xfrm>
          <a:prstGeom prst="rect">
            <a:avLst/>
          </a:prstGeom>
          <a:noFill/>
          <a:ln/>
        </p:spPr>
        <p:txBody>
          <a:bodyPr wrap="square" lIns="0" tIns="0" rIns="0" bIns="0" rtlCol="0" anchor="t"/>
          <a:lstStyle/>
          <a:p>
            <a:pPr marL="0" indent="0" algn="ctr">
              <a:buNone/>
            </a:pPr>
            <a:r>
              <a:rPr lang="en-US" sz="1200" dirty="0">
                <a:solidFill>
                  <a:schemeClr val="tx1"/>
                </a:solidFill>
              </a:rPr>
              <a:t>Selects or creates a patient</a:t>
            </a:r>
            <a:endParaRPr lang="en-US" sz="1200" dirty="0"/>
          </a:p>
        </p:txBody>
      </p:sp>
      <p:sp>
        <p:nvSpPr>
          <p:cNvPr id="11" name="Demo 3"/>
          <p:cNvSpPr/>
          <p:nvPr/>
        </p:nvSpPr>
        <p:spPr>
          <a:xfrm>
            <a:off x="3808476" y="1435608"/>
            <a:ext cx="411480" cy="411480"/>
          </a:xfrm>
          <a:prstGeom prst="ellipse">
            <a:avLst/>
          </a:prstGeom>
          <a:solidFill>
            <a:schemeClr val="accent1"/>
          </a:solidFill>
          <a:ln w="25400">
            <a:solidFill>
              <a:schemeClr val="bg1"/>
            </a:solidFill>
            <a:prstDash val="solid"/>
          </a:ln>
        </p:spPr>
      </p:sp>
      <p:sp>
        <p:nvSpPr>
          <p:cNvPr id="12" name="Text 10"/>
          <p:cNvSpPr txBox="1"/>
          <p:nvPr/>
        </p:nvSpPr>
        <p:spPr>
          <a:xfrm>
            <a:off x="3808476" y="1435608"/>
            <a:ext cx="411480" cy="41148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3" name="Text 11"/>
          <p:cNvSpPr txBox="1"/>
          <p:nvPr/>
        </p:nvSpPr>
        <p:spPr>
          <a:xfrm>
            <a:off x="3366821" y="1920240"/>
            <a:ext cx="1294790" cy="548640"/>
          </a:xfrm>
          <a:prstGeom prst="rect">
            <a:avLst/>
          </a:prstGeom>
          <a:noFill/>
          <a:ln/>
        </p:spPr>
        <p:txBody>
          <a:bodyPr wrap="square" lIns="0" tIns="0" rIns="0" bIns="0" rtlCol="0" anchor="t"/>
          <a:lstStyle/>
          <a:p>
            <a:pPr marL="0" indent="0" algn="ctr">
              <a:buNone/>
            </a:pPr>
            <a:r>
              <a:rPr lang="en-US" sz="1200" dirty="0">
                <a:solidFill>
                  <a:schemeClr val="tx1"/>
                </a:solidFill>
              </a:rPr>
              <a:t>Enters clinical data</a:t>
            </a:r>
            <a:endParaRPr lang="en-US" sz="1200" dirty="0"/>
          </a:p>
        </p:txBody>
      </p:sp>
      <p:sp>
        <p:nvSpPr>
          <p:cNvPr id="14" name="Demo 4"/>
          <p:cNvSpPr/>
          <p:nvPr/>
        </p:nvSpPr>
        <p:spPr>
          <a:xfrm>
            <a:off x="5194706" y="1435608"/>
            <a:ext cx="411480" cy="411480"/>
          </a:xfrm>
          <a:prstGeom prst="ellipse">
            <a:avLst/>
          </a:prstGeom>
          <a:solidFill>
            <a:schemeClr val="accent1"/>
          </a:solidFill>
          <a:ln w="25400">
            <a:solidFill>
              <a:schemeClr val="bg1"/>
            </a:solidFill>
            <a:prstDash val="solid"/>
          </a:ln>
        </p:spPr>
      </p:sp>
      <p:sp>
        <p:nvSpPr>
          <p:cNvPr id="15" name="Text 13"/>
          <p:cNvSpPr txBox="1"/>
          <p:nvPr/>
        </p:nvSpPr>
        <p:spPr>
          <a:xfrm>
            <a:off x="5194706" y="1435608"/>
            <a:ext cx="411480" cy="41148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6" name="Text 14"/>
          <p:cNvSpPr txBox="1"/>
          <p:nvPr/>
        </p:nvSpPr>
        <p:spPr>
          <a:xfrm>
            <a:off x="4753051" y="1920240"/>
            <a:ext cx="1294790" cy="548640"/>
          </a:xfrm>
          <a:prstGeom prst="rect">
            <a:avLst/>
          </a:prstGeom>
          <a:noFill/>
          <a:ln/>
        </p:spPr>
        <p:txBody>
          <a:bodyPr wrap="square" lIns="0" tIns="0" rIns="0" bIns="0" rtlCol="0" anchor="t"/>
          <a:lstStyle/>
          <a:p>
            <a:pPr marL="0" indent="0" algn="ctr">
              <a:buNone/>
            </a:pPr>
            <a:r>
              <a:rPr lang="en-US" sz="1200" dirty="0">
                <a:solidFill>
                  <a:schemeClr val="tx1"/>
                </a:solidFill>
              </a:rPr>
              <a:t>Data sent to ML service</a:t>
            </a:r>
            <a:endParaRPr lang="en-US" sz="1200" dirty="0"/>
          </a:p>
        </p:txBody>
      </p:sp>
      <p:sp>
        <p:nvSpPr>
          <p:cNvPr id="17" name="Demo 5"/>
          <p:cNvSpPr/>
          <p:nvPr/>
        </p:nvSpPr>
        <p:spPr>
          <a:xfrm>
            <a:off x="6580937" y="1435608"/>
            <a:ext cx="411480" cy="411480"/>
          </a:xfrm>
          <a:prstGeom prst="ellipse">
            <a:avLst/>
          </a:prstGeom>
          <a:solidFill>
            <a:schemeClr val="accent1"/>
          </a:solidFill>
          <a:ln w="25400">
            <a:solidFill>
              <a:schemeClr val="bg1"/>
            </a:solidFill>
            <a:prstDash val="solid"/>
          </a:ln>
        </p:spPr>
      </p:sp>
      <p:sp>
        <p:nvSpPr>
          <p:cNvPr id="18" name="Text 16"/>
          <p:cNvSpPr txBox="1"/>
          <p:nvPr/>
        </p:nvSpPr>
        <p:spPr>
          <a:xfrm>
            <a:off x="6580937" y="1435608"/>
            <a:ext cx="411480" cy="411480"/>
          </a:xfrm>
          <a:prstGeom prst="rect">
            <a:avLst/>
          </a:prstGeom>
          <a:no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19" name="Text 17"/>
          <p:cNvSpPr txBox="1"/>
          <p:nvPr/>
        </p:nvSpPr>
        <p:spPr>
          <a:xfrm>
            <a:off x="6139282" y="1920240"/>
            <a:ext cx="1294790" cy="548640"/>
          </a:xfrm>
          <a:prstGeom prst="rect">
            <a:avLst/>
          </a:prstGeom>
          <a:noFill/>
          <a:ln/>
        </p:spPr>
        <p:txBody>
          <a:bodyPr wrap="square" lIns="0" tIns="0" rIns="0" bIns="0" rtlCol="0" anchor="t"/>
          <a:lstStyle/>
          <a:p>
            <a:pPr marL="0" indent="0" algn="ctr">
              <a:buNone/>
            </a:pPr>
            <a:r>
              <a:rPr lang="en-US" sz="1200" dirty="0">
                <a:solidFill>
                  <a:schemeClr val="tx1"/>
                </a:solidFill>
              </a:rPr>
              <a:t>Model returns probability</a:t>
            </a:r>
            <a:endParaRPr lang="en-US" sz="1200" dirty="0"/>
          </a:p>
        </p:txBody>
      </p:sp>
      <p:sp>
        <p:nvSpPr>
          <p:cNvPr id="20" name="Demo 6"/>
          <p:cNvSpPr/>
          <p:nvPr/>
        </p:nvSpPr>
        <p:spPr>
          <a:xfrm>
            <a:off x="7967167" y="1435608"/>
            <a:ext cx="411480" cy="411480"/>
          </a:xfrm>
          <a:prstGeom prst="ellipse">
            <a:avLst/>
          </a:prstGeom>
          <a:solidFill>
            <a:schemeClr val="tx2"/>
          </a:solidFill>
          <a:ln w="25400">
            <a:solidFill>
              <a:schemeClr val="bg1"/>
            </a:solidFill>
            <a:prstDash val="solid"/>
          </a:ln>
        </p:spPr>
      </p:sp>
      <p:sp>
        <p:nvSpPr>
          <p:cNvPr id="21" name="Text 19"/>
          <p:cNvSpPr txBox="1"/>
          <p:nvPr/>
        </p:nvSpPr>
        <p:spPr>
          <a:xfrm>
            <a:off x="7967167" y="1435608"/>
            <a:ext cx="411480" cy="411480"/>
          </a:xfrm>
          <a:prstGeom prst="rect">
            <a:avLst/>
          </a:prstGeom>
          <a:noFill/>
          <a:ln/>
        </p:spPr>
        <p:txBody>
          <a:bodyPr wrap="square" lIns="0" tIns="0" rIns="0" bIns="0" rtlCol="0" anchor="ctr"/>
          <a:lstStyle/>
          <a:p>
            <a:pPr marL="0" indent="0" algn="ctr">
              <a:buNone/>
            </a:pPr>
            <a:r>
              <a:rPr lang="en-US" sz="1300" b="1" dirty="0">
                <a:solidFill>
                  <a:schemeClr val="bg1"/>
                </a:solidFill>
              </a:rPr>
              <a:t>6</a:t>
            </a:r>
            <a:endParaRPr lang="en-US" sz="1300" dirty="0"/>
          </a:p>
        </p:txBody>
      </p:sp>
      <p:sp>
        <p:nvSpPr>
          <p:cNvPr id="22" name="Text 20"/>
          <p:cNvSpPr txBox="1"/>
          <p:nvPr/>
        </p:nvSpPr>
        <p:spPr>
          <a:xfrm>
            <a:off x="7525512" y="1920240"/>
            <a:ext cx="1294790" cy="548640"/>
          </a:xfrm>
          <a:prstGeom prst="rect">
            <a:avLst/>
          </a:prstGeom>
          <a:noFill/>
          <a:ln/>
        </p:spPr>
        <p:txBody>
          <a:bodyPr wrap="square" lIns="0" tIns="0" rIns="0" bIns="0" rtlCol="0" anchor="t"/>
          <a:lstStyle/>
          <a:p>
            <a:pPr marL="0" indent="0" algn="ctr">
              <a:buNone/>
            </a:pPr>
            <a:r>
              <a:rPr lang="en-US" sz="1200" dirty="0">
                <a:solidFill>
                  <a:schemeClr val="tx1"/>
                </a:solidFill>
              </a:rPr>
              <a:t>LOW / MED / HIGH shown</a:t>
            </a:r>
            <a:endParaRPr lang="en-US" sz="1200" dirty="0"/>
          </a:p>
        </p:txBody>
      </p:sp>
      <p:sp>
        <p:nvSpPr>
          <p:cNvPr id="23" name="Demo 7"/>
          <p:cNvSpPr/>
          <p:nvPr/>
        </p:nvSpPr>
        <p:spPr>
          <a:xfrm>
            <a:off x="9353398" y="1435608"/>
            <a:ext cx="411480" cy="411480"/>
          </a:xfrm>
          <a:prstGeom prst="ellipse">
            <a:avLst/>
          </a:prstGeom>
          <a:solidFill>
            <a:schemeClr val="tx2"/>
          </a:solidFill>
          <a:ln w="25400">
            <a:solidFill>
              <a:schemeClr val="bg1"/>
            </a:solidFill>
            <a:prstDash val="solid"/>
          </a:ln>
        </p:spPr>
      </p:sp>
      <p:sp>
        <p:nvSpPr>
          <p:cNvPr id="24" name="Text 22"/>
          <p:cNvSpPr txBox="1"/>
          <p:nvPr/>
        </p:nvSpPr>
        <p:spPr>
          <a:xfrm>
            <a:off x="9353398" y="1435608"/>
            <a:ext cx="411480" cy="411480"/>
          </a:xfrm>
          <a:prstGeom prst="rect">
            <a:avLst/>
          </a:prstGeom>
          <a:noFill/>
          <a:ln/>
        </p:spPr>
        <p:txBody>
          <a:bodyPr wrap="square" lIns="0" tIns="0" rIns="0" bIns="0" rtlCol="0" anchor="ctr"/>
          <a:lstStyle/>
          <a:p>
            <a:pPr marL="0" indent="0" algn="ctr">
              <a:buNone/>
            </a:pPr>
            <a:r>
              <a:rPr lang="en-US" sz="1300" b="1" dirty="0">
                <a:solidFill>
                  <a:schemeClr val="bg1"/>
                </a:solidFill>
              </a:rPr>
              <a:t>7</a:t>
            </a:r>
            <a:endParaRPr lang="en-US" sz="1300" dirty="0"/>
          </a:p>
        </p:txBody>
      </p:sp>
      <p:sp>
        <p:nvSpPr>
          <p:cNvPr id="25" name="Text 23"/>
          <p:cNvSpPr txBox="1"/>
          <p:nvPr/>
        </p:nvSpPr>
        <p:spPr>
          <a:xfrm>
            <a:off x="8911742" y="1920240"/>
            <a:ext cx="1294790" cy="548640"/>
          </a:xfrm>
          <a:prstGeom prst="rect">
            <a:avLst/>
          </a:prstGeom>
          <a:noFill/>
          <a:ln/>
        </p:spPr>
        <p:txBody>
          <a:bodyPr wrap="square" lIns="0" tIns="0" rIns="0" bIns="0" rtlCol="0" anchor="t"/>
          <a:lstStyle/>
          <a:p>
            <a:pPr marL="0" indent="0" algn="ctr">
              <a:buNone/>
            </a:pPr>
            <a:r>
              <a:rPr lang="en-US" sz="1200" dirty="0">
                <a:solidFill>
                  <a:schemeClr val="tx1"/>
                </a:solidFill>
              </a:rPr>
              <a:t>SHAP top factors shown</a:t>
            </a:r>
            <a:endParaRPr lang="en-US" sz="1200" dirty="0"/>
          </a:p>
        </p:txBody>
      </p:sp>
      <p:sp>
        <p:nvSpPr>
          <p:cNvPr id="26" name="Demo 8"/>
          <p:cNvSpPr/>
          <p:nvPr/>
        </p:nvSpPr>
        <p:spPr>
          <a:xfrm>
            <a:off x="10739628" y="1435608"/>
            <a:ext cx="411480" cy="411480"/>
          </a:xfrm>
          <a:prstGeom prst="ellipse">
            <a:avLst/>
          </a:prstGeom>
          <a:solidFill>
            <a:schemeClr val="tx2"/>
          </a:solidFill>
          <a:ln w="25400">
            <a:solidFill>
              <a:schemeClr val="bg1"/>
            </a:solidFill>
            <a:prstDash val="solid"/>
          </a:ln>
        </p:spPr>
      </p:sp>
      <p:sp>
        <p:nvSpPr>
          <p:cNvPr id="27" name="Text 25"/>
          <p:cNvSpPr txBox="1"/>
          <p:nvPr/>
        </p:nvSpPr>
        <p:spPr>
          <a:xfrm>
            <a:off x="10739628" y="1435608"/>
            <a:ext cx="411480" cy="411480"/>
          </a:xfrm>
          <a:prstGeom prst="rect">
            <a:avLst/>
          </a:prstGeom>
          <a:noFill/>
          <a:ln/>
        </p:spPr>
        <p:txBody>
          <a:bodyPr wrap="square" lIns="0" tIns="0" rIns="0" bIns="0" rtlCol="0" anchor="ctr"/>
          <a:lstStyle/>
          <a:p>
            <a:pPr marL="0" indent="0" algn="ctr">
              <a:buNone/>
            </a:pPr>
            <a:r>
              <a:rPr lang="en-US" sz="1300" b="1" dirty="0">
                <a:solidFill>
                  <a:schemeClr val="bg1"/>
                </a:solidFill>
              </a:rPr>
              <a:t>8</a:t>
            </a:r>
            <a:endParaRPr lang="en-US" sz="1300" dirty="0"/>
          </a:p>
        </p:txBody>
      </p:sp>
      <p:sp>
        <p:nvSpPr>
          <p:cNvPr id="28" name="Text 26"/>
          <p:cNvSpPr txBox="1"/>
          <p:nvPr/>
        </p:nvSpPr>
        <p:spPr>
          <a:xfrm>
            <a:off x="10297973" y="1920240"/>
            <a:ext cx="1294790" cy="548640"/>
          </a:xfrm>
          <a:prstGeom prst="rect">
            <a:avLst/>
          </a:prstGeom>
          <a:noFill/>
          <a:ln/>
        </p:spPr>
        <p:txBody>
          <a:bodyPr wrap="square" lIns="0" tIns="0" rIns="0" bIns="0" rtlCol="0" anchor="t"/>
          <a:lstStyle/>
          <a:p>
            <a:pPr marL="0" indent="0" algn="ctr">
              <a:buNone/>
            </a:pPr>
            <a:r>
              <a:rPr lang="en-US" sz="1200" dirty="0">
                <a:solidFill>
                  <a:schemeClr val="tx1"/>
                </a:solidFill>
              </a:rPr>
              <a:t>Views risk-ranked list</a:t>
            </a:r>
            <a:endParaRPr lang="en-US" sz="1200" dirty="0"/>
          </a:p>
        </p:txBody>
      </p:sp>
      <p:sp>
        <p:nvSpPr>
          <p:cNvPr id="29" name="Deliverables"/>
          <p:cNvSpPr/>
          <p:nvPr/>
        </p:nvSpPr>
        <p:spPr>
          <a:xfrm>
            <a:off x="548640" y="2743200"/>
            <a:ext cx="3108960" cy="3520440"/>
          </a:xfrm>
          <a:prstGeom prst="roundRect">
            <a:avLst>
              <a:gd name="adj" fmla="val 2353"/>
            </a:avLst>
          </a:prstGeom>
          <a:solidFill>
            <a:schemeClr val="bg2"/>
          </a:solidFill>
          <a:ln/>
        </p:spPr>
      </p:sp>
      <p:sp>
        <p:nvSpPr>
          <p:cNvPr id="30" name="Text 28"/>
          <p:cNvSpPr txBox="1"/>
          <p:nvPr/>
        </p:nvSpPr>
        <p:spPr>
          <a:xfrm>
            <a:off x="731520" y="2880360"/>
            <a:ext cx="274320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DELIVERABLES</a:t>
            </a:r>
            <a:endParaRPr lang="en-US" sz="1200" dirty="0"/>
          </a:p>
        </p:txBody>
      </p:sp>
      <p:sp>
        <p:nvSpPr>
          <p:cNvPr id="31" name="Check Working web dashboard"/>
          <p:cNvSpPr/>
          <p:nvPr/>
        </p:nvSpPr>
        <p:spPr>
          <a:xfrm>
            <a:off x="731520" y="3364992"/>
            <a:ext cx="219456" cy="219456"/>
          </a:xfrm>
          <a:prstGeom prst="ellipse">
            <a:avLst/>
          </a:prstGeom>
          <a:solidFill>
            <a:schemeClr val="accent1"/>
          </a:solidFill>
          <a:ln/>
        </p:spPr>
      </p:sp>
      <p:sp>
        <p:nvSpPr>
          <p:cNvPr id="32" name="Text 30"/>
          <p:cNvSpPr txBox="1"/>
          <p:nvPr/>
        </p:nvSpPr>
        <p:spPr>
          <a:xfrm>
            <a:off x="731520" y="3364992"/>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a:t>
            </a:r>
            <a:endParaRPr lang="en-US" sz="900" dirty="0"/>
          </a:p>
        </p:txBody>
      </p:sp>
      <p:sp>
        <p:nvSpPr>
          <p:cNvPr id="33" name="Text 31"/>
          <p:cNvSpPr txBox="1"/>
          <p:nvPr/>
        </p:nvSpPr>
        <p:spPr>
          <a:xfrm>
            <a:off x="1051560" y="3291840"/>
            <a:ext cx="2514600" cy="365760"/>
          </a:xfrm>
          <a:prstGeom prst="rect">
            <a:avLst/>
          </a:prstGeom>
          <a:noFill/>
          <a:ln/>
        </p:spPr>
        <p:txBody>
          <a:bodyPr wrap="square" lIns="0" tIns="0" rIns="0" bIns="0" rtlCol="0" anchor="ctr"/>
          <a:lstStyle/>
          <a:p>
            <a:pPr marL="0" indent="0">
              <a:buNone/>
            </a:pPr>
            <a:r>
              <a:rPr lang="en-US" sz="1400" dirty="0">
                <a:solidFill>
                  <a:schemeClr val="tx1"/>
                </a:solidFill>
              </a:rPr>
              <a:t>Working web dashboard</a:t>
            </a:r>
            <a:endParaRPr lang="en-US" sz="1400" dirty="0"/>
          </a:p>
        </p:txBody>
      </p:sp>
      <p:sp>
        <p:nvSpPr>
          <p:cNvPr id="34" name="Check ML prediction API"/>
          <p:cNvSpPr/>
          <p:nvPr/>
        </p:nvSpPr>
        <p:spPr>
          <a:xfrm>
            <a:off x="731520" y="3840480"/>
            <a:ext cx="219456" cy="219456"/>
          </a:xfrm>
          <a:prstGeom prst="ellipse">
            <a:avLst/>
          </a:prstGeom>
          <a:solidFill>
            <a:schemeClr val="accent1"/>
          </a:solidFill>
          <a:ln/>
        </p:spPr>
      </p:sp>
      <p:sp>
        <p:nvSpPr>
          <p:cNvPr id="35" name="Text 33"/>
          <p:cNvSpPr txBox="1"/>
          <p:nvPr/>
        </p:nvSpPr>
        <p:spPr>
          <a:xfrm>
            <a:off x="731520" y="3840480"/>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a:t>
            </a:r>
            <a:endParaRPr lang="en-US" sz="900" dirty="0"/>
          </a:p>
        </p:txBody>
      </p:sp>
      <p:sp>
        <p:nvSpPr>
          <p:cNvPr id="36" name="Text 34"/>
          <p:cNvSpPr txBox="1"/>
          <p:nvPr/>
        </p:nvSpPr>
        <p:spPr>
          <a:xfrm>
            <a:off x="1051560" y="3767328"/>
            <a:ext cx="2514600" cy="365760"/>
          </a:xfrm>
          <a:prstGeom prst="rect">
            <a:avLst/>
          </a:prstGeom>
          <a:noFill/>
          <a:ln/>
        </p:spPr>
        <p:txBody>
          <a:bodyPr wrap="square" lIns="0" tIns="0" rIns="0" bIns="0" rtlCol="0" anchor="ctr"/>
          <a:lstStyle/>
          <a:p>
            <a:pPr marL="0" indent="0">
              <a:buNone/>
            </a:pPr>
            <a:r>
              <a:rPr lang="en-US" sz="1400" dirty="0">
                <a:solidFill>
                  <a:schemeClr val="tx1"/>
                </a:solidFill>
              </a:rPr>
              <a:t>ML prediction API</a:t>
            </a:r>
            <a:endParaRPr lang="en-US" sz="1400" dirty="0"/>
          </a:p>
        </p:txBody>
      </p:sp>
      <p:sp>
        <p:nvSpPr>
          <p:cNvPr id="37" name="Check Trained ML model"/>
          <p:cNvSpPr/>
          <p:nvPr/>
        </p:nvSpPr>
        <p:spPr>
          <a:xfrm>
            <a:off x="731520" y="4315968"/>
            <a:ext cx="219456" cy="219456"/>
          </a:xfrm>
          <a:prstGeom prst="ellipse">
            <a:avLst/>
          </a:prstGeom>
          <a:solidFill>
            <a:schemeClr val="accent1"/>
          </a:solidFill>
          <a:ln/>
        </p:spPr>
      </p:sp>
      <p:sp>
        <p:nvSpPr>
          <p:cNvPr id="38" name="Text 36"/>
          <p:cNvSpPr txBox="1"/>
          <p:nvPr/>
        </p:nvSpPr>
        <p:spPr>
          <a:xfrm>
            <a:off x="731520" y="4315968"/>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a:t>
            </a:r>
            <a:endParaRPr lang="en-US" sz="900" dirty="0"/>
          </a:p>
        </p:txBody>
      </p:sp>
      <p:sp>
        <p:nvSpPr>
          <p:cNvPr id="39" name="Text 37"/>
          <p:cNvSpPr txBox="1"/>
          <p:nvPr/>
        </p:nvSpPr>
        <p:spPr>
          <a:xfrm>
            <a:off x="1051560" y="4242816"/>
            <a:ext cx="2514600" cy="365760"/>
          </a:xfrm>
          <a:prstGeom prst="rect">
            <a:avLst/>
          </a:prstGeom>
          <a:noFill/>
          <a:ln/>
        </p:spPr>
        <p:txBody>
          <a:bodyPr wrap="square" lIns="0" tIns="0" rIns="0" bIns="0" rtlCol="0" anchor="ctr"/>
          <a:lstStyle/>
          <a:p>
            <a:pPr marL="0" indent="0">
              <a:buNone/>
            </a:pPr>
            <a:r>
              <a:rPr lang="en-US" sz="1400" dirty="0">
                <a:solidFill>
                  <a:schemeClr val="tx1"/>
                </a:solidFill>
              </a:rPr>
              <a:t>Trained ML model</a:t>
            </a:r>
            <a:endParaRPr lang="en-US" sz="1400" dirty="0"/>
          </a:p>
        </p:txBody>
      </p:sp>
      <p:sp>
        <p:nvSpPr>
          <p:cNvPr id="40" name="Check Explainability module"/>
          <p:cNvSpPr/>
          <p:nvPr/>
        </p:nvSpPr>
        <p:spPr>
          <a:xfrm>
            <a:off x="731520" y="4791456"/>
            <a:ext cx="219456" cy="219456"/>
          </a:xfrm>
          <a:prstGeom prst="ellipse">
            <a:avLst/>
          </a:prstGeom>
          <a:solidFill>
            <a:schemeClr val="accent1"/>
          </a:solidFill>
          <a:ln/>
        </p:spPr>
      </p:sp>
      <p:sp>
        <p:nvSpPr>
          <p:cNvPr id="41" name="Text 39"/>
          <p:cNvSpPr txBox="1"/>
          <p:nvPr/>
        </p:nvSpPr>
        <p:spPr>
          <a:xfrm>
            <a:off x="731520" y="4791456"/>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a:t>
            </a:r>
            <a:endParaRPr lang="en-US" sz="900" dirty="0"/>
          </a:p>
        </p:txBody>
      </p:sp>
      <p:sp>
        <p:nvSpPr>
          <p:cNvPr id="42" name="Text 40"/>
          <p:cNvSpPr txBox="1"/>
          <p:nvPr/>
        </p:nvSpPr>
        <p:spPr>
          <a:xfrm>
            <a:off x="1051560" y="4718304"/>
            <a:ext cx="2514600" cy="365760"/>
          </a:xfrm>
          <a:prstGeom prst="rect">
            <a:avLst/>
          </a:prstGeom>
          <a:noFill/>
          <a:ln/>
        </p:spPr>
        <p:txBody>
          <a:bodyPr wrap="square" lIns="0" tIns="0" rIns="0" bIns="0" rtlCol="0" anchor="ctr"/>
          <a:lstStyle/>
          <a:p>
            <a:pPr marL="0" indent="0">
              <a:buNone/>
            </a:pPr>
            <a:r>
              <a:rPr lang="en-US" sz="1400" dirty="0">
                <a:solidFill>
                  <a:schemeClr val="tx1"/>
                </a:solidFill>
              </a:rPr>
              <a:t>Explainability module</a:t>
            </a:r>
            <a:endParaRPr lang="en-US" sz="1400" dirty="0"/>
          </a:p>
        </p:txBody>
      </p:sp>
      <p:sp>
        <p:nvSpPr>
          <p:cNvPr id="43" name="Check Database"/>
          <p:cNvSpPr/>
          <p:nvPr/>
        </p:nvSpPr>
        <p:spPr>
          <a:xfrm>
            <a:off x="731520" y="5266944"/>
            <a:ext cx="219456" cy="219456"/>
          </a:xfrm>
          <a:prstGeom prst="ellipse">
            <a:avLst/>
          </a:prstGeom>
          <a:solidFill>
            <a:schemeClr val="accent1"/>
          </a:solidFill>
          <a:ln/>
        </p:spPr>
      </p:sp>
      <p:sp>
        <p:nvSpPr>
          <p:cNvPr id="44" name="Text 42"/>
          <p:cNvSpPr txBox="1"/>
          <p:nvPr/>
        </p:nvSpPr>
        <p:spPr>
          <a:xfrm>
            <a:off x="731520" y="5266944"/>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a:t>
            </a:r>
            <a:endParaRPr lang="en-US" sz="900" dirty="0"/>
          </a:p>
        </p:txBody>
      </p:sp>
      <p:sp>
        <p:nvSpPr>
          <p:cNvPr id="45" name="Text 43"/>
          <p:cNvSpPr txBox="1"/>
          <p:nvPr/>
        </p:nvSpPr>
        <p:spPr>
          <a:xfrm>
            <a:off x="1051560" y="5193792"/>
            <a:ext cx="2514600" cy="365760"/>
          </a:xfrm>
          <a:prstGeom prst="rect">
            <a:avLst/>
          </a:prstGeom>
          <a:noFill/>
          <a:ln/>
        </p:spPr>
        <p:txBody>
          <a:bodyPr wrap="square" lIns="0" tIns="0" rIns="0" bIns="0" rtlCol="0" anchor="ctr"/>
          <a:lstStyle/>
          <a:p>
            <a:pPr marL="0" indent="0">
              <a:buNone/>
            </a:pPr>
            <a:r>
              <a:rPr lang="en-US" sz="1400" dirty="0">
                <a:solidFill>
                  <a:schemeClr val="tx1"/>
                </a:solidFill>
              </a:rPr>
              <a:t>Database</a:t>
            </a:r>
            <a:endParaRPr lang="en-US" sz="1400" dirty="0"/>
          </a:p>
        </p:txBody>
      </p:sp>
      <p:sp>
        <p:nvSpPr>
          <p:cNvPr id="46" name="Check End-to-end prototype"/>
          <p:cNvSpPr/>
          <p:nvPr/>
        </p:nvSpPr>
        <p:spPr>
          <a:xfrm>
            <a:off x="731520" y="5742432"/>
            <a:ext cx="219456" cy="219456"/>
          </a:xfrm>
          <a:prstGeom prst="ellipse">
            <a:avLst/>
          </a:prstGeom>
          <a:solidFill>
            <a:schemeClr val="accent1"/>
          </a:solidFill>
          <a:ln/>
        </p:spPr>
      </p:sp>
      <p:sp>
        <p:nvSpPr>
          <p:cNvPr id="47" name="Text 45"/>
          <p:cNvSpPr txBox="1"/>
          <p:nvPr/>
        </p:nvSpPr>
        <p:spPr>
          <a:xfrm>
            <a:off x="731520" y="5742432"/>
            <a:ext cx="219456" cy="219456"/>
          </a:xfrm>
          <a:prstGeom prst="rect">
            <a:avLst/>
          </a:prstGeom>
          <a:noFill/>
          <a:ln/>
        </p:spPr>
        <p:txBody>
          <a:bodyPr wrap="square" lIns="0" tIns="0" rIns="0" bIns="0" rtlCol="0" anchor="ctr"/>
          <a:lstStyle/>
          <a:p>
            <a:pPr marL="0" indent="0" algn="ctr">
              <a:buNone/>
            </a:pPr>
            <a:r>
              <a:rPr lang="en-US" sz="900" b="1" dirty="0">
                <a:solidFill>
                  <a:schemeClr val="bg1"/>
                </a:solidFill>
              </a:rPr>
              <a:t>✓</a:t>
            </a:r>
            <a:endParaRPr lang="en-US" sz="900" dirty="0"/>
          </a:p>
        </p:txBody>
      </p:sp>
      <p:sp>
        <p:nvSpPr>
          <p:cNvPr id="48" name="Text 46"/>
          <p:cNvSpPr txBox="1"/>
          <p:nvPr/>
        </p:nvSpPr>
        <p:spPr>
          <a:xfrm>
            <a:off x="1051560" y="5669280"/>
            <a:ext cx="2514600" cy="365760"/>
          </a:xfrm>
          <a:prstGeom prst="rect">
            <a:avLst/>
          </a:prstGeom>
          <a:noFill/>
          <a:ln/>
        </p:spPr>
        <p:txBody>
          <a:bodyPr wrap="square" lIns="0" tIns="0" rIns="0" bIns="0" rtlCol="0" anchor="ctr"/>
          <a:lstStyle/>
          <a:p>
            <a:pPr marL="0" indent="0">
              <a:buNone/>
            </a:pPr>
            <a:r>
              <a:rPr lang="en-US" sz="1400" dirty="0">
                <a:solidFill>
                  <a:schemeClr val="tx1"/>
                </a:solidFill>
              </a:rPr>
              <a:t>End-to-end prototype</a:t>
            </a:r>
            <a:endParaRPr lang="en-US" sz="1400" dirty="0"/>
          </a:p>
        </p:txBody>
      </p:sp>
      <p:sp>
        <p:nvSpPr>
          <p:cNvPr id="49" name="Text 47"/>
          <p:cNvSpPr txBox="1"/>
          <p:nvPr/>
        </p:nvSpPr>
        <p:spPr>
          <a:xfrm>
            <a:off x="3840480" y="2743200"/>
            <a:ext cx="420624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MEASURES OF SUCCESS</a:t>
            </a:r>
            <a:endParaRPr lang="en-US" sz="12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3840480" y="3063240"/>
          <a:ext cx="4206240" cy="2706624"/>
        </p:xfrm>
        <a:graphic>
          <a:graphicData uri="http://schemas.openxmlformats.org/drawingml/2006/table">
            <a:tbl>
              <a:tblPr/>
              <a:tblGrid>
                <a:gridCol w="21945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338328">
                <a:tc>
                  <a:txBody>
                    <a:bodyPr/>
                    <a:lstStyle/>
                    <a:p>
                      <a:pPr marL="0" indent="0">
                        <a:buNone/>
                      </a:pPr>
                      <a:r>
                        <a:rPr lang="en-US" sz="1200" b="1" dirty="0">
                          <a:solidFill>
                            <a:schemeClr val="bg1"/>
                          </a:solidFill>
                        </a:rPr>
                        <a:t>Metric</a:t>
                      </a:r>
                      <a:endParaRPr lang="en-US" sz="1200" dirty="0"/>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Target / status</a:t>
                      </a:r>
                      <a:endParaRPr lang="en-US" sz="1200" dirty="0"/>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38328">
                <a:tc>
                  <a:txBody>
                    <a:bodyPr/>
                    <a:lstStyle/>
                    <a:p>
                      <a:pPr marL="0" indent="0">
                        <a:buNone/>
                      </a:pPr>
                      <a:r>
                        <a:rPr lang="en-US" sz="1200" dirty="0">
                          <a:solidFill>
                            <a:schemeClr val="tx1"/>
                          </a:solidFill>
                        </a:rPr>
                        <a:t>Recall (high-risk class)</a:t>
                      </a:r>
                      <a:endParaRPr lang="en-US" sz="1200" dirty="0"/>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i="1" dirty="0">
                          <a:solidFill>
                            <a:schemeClr val="accent6"/>
                          </a:solidFill>
                        </a:rPr>
                        <a:t>To be evaluated*</a:t>
                      </a:r>
                      <a:endParaRPr lang="en-US" sz="1200" dirty="0"/>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8328">
                <a:tc>
                  <a:txBody>
                    <a:bodyPr/>
                    <a:lstStyle/>
                    <a:p>
                      <a:pPr marL="0" indent="0">
                        <a:buNone/>
                      </a:pPr>
                      <a:r>
                        <a:rPr lang="en-US" sz="1200" dirty="0">
                          <a:solidFill>
                            <a:schemeClr val="tx1"/>
                          </a:solidFill>
                        </a:rPr>
                        <a:t>F1-score</a:t>
                      </a:r>
                      <a:endParaRPr lang="en-US" sz="1200" dirty="0"/>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i="1" dirty="0">
                          <a:solidFill>
                            <a:schemeClr val="accent6"/>
                          </a:solidFill>
                        </a:rPr>
                        <a:t>To be evaluated*</a:t>
                      </a:r>
                      <a:endParaRPr lang="en-US" sz="1200" dirty="0"/>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buNone/>
                      </a:pPr>
                      <a:r>
                        <a:rPr lang="en-US" sz="1200" dirty="0">
                          <a:solidFill>
                            <a:schemeClr val="tx1"/>
                          </a:solidFill>
                        </a:rPr>
                        <a:t>ROC-AUC</a:t>
                      </a:r>
                      <a:endParaRPr lang="en-US" sz="1200" dirty="0"/>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i="1" dirty="0">
                          <a:solidFill>
                            <a:schemeClr val="accent6"/>
                          </a:solidFill>
                        </a:rPr>
                        <a:t>To be evaluated*</a:t>
                      </a:r>
                      <a:endParaRPr lang="en-US" sz="1200" dirty="0"/>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8328">
                <a:tc>
                  <a:txBody>
                    <a:bodyPr/>
                    <a:lstStyle/>
                    <a:p>
                      <a:pPr marL="0" indent="0">
                        <a:buNone/>
                      </a:pPr>
                      <a:r>
                        <a:rPr lang="en-US" sz="1200" dirty="0">
                          <a:solidFill>
                            <a:schemeClr val="tx1"/>
                          </a:solidFill>
                        </a:rPr>
                        <a:t>PR-AUC (imbalanced data)</a:t>
                      </a:r>
                      <a:endParaRPr lang="en-US" sz="1200" dirty="0"/>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i="1" dirty="0">
                          <a:solidFill>
                            <a:schemeClr val="accent6"/>
                          </a:solidFill>
                        </a:rPr>
                        <a:t>To be evaluated*</a:t>
                      </a:r>
                      <a:endParaRPr lang="en-US" sz="1200" dirty="0"/>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buNone/>
                      </a:pPr>
                      <a:r>
                        <a:rPr lang="en-US" sz="1200" dirty="0">
                          <a:solidFill>
                            <a:schemeClr val="tx1"/>
                          </a:solidFill>
                        </a:rPr>
                        <a:t>Prediction latency</a:t>
                      </a:r>
                      <a:endParaRPr lang="en-US" sz="1200" dirty="0"/>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i="1" dirty="0">
                          <a:solidFill>
                            <a:schemeClr val="accent6"/>
                          </a:solidFill>
                        </a:rPr>
                        <a:t>To be measured*</a:t>
                      </a:r>
                      <a:endParaRPr lang="en-US" sz="1200" dirty="0"/>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8328">
                <a:tc>
                  <a:txBody>
                    <a:bodyPr/>
                    <a:lstStyle/>
                    <a:p>
                      <a:pPr marL="0" indent="0">
                        <a:buNone/>
                      </a:pPr>
                      <a:r>
                        <a:rPr lang="en-US" sz="1200" dirty="0">
                          <a:solidFill>
                            <a:schemeClr val="tx1"/>
                          </a:solidFill>
                        </a:rPr>
                        <a:t>End-to-end prediction</a:t>
                      </a:r>
                      <a:endParaRPr lang="en-US" sz="1200" dirty="0"/>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chemeClr val="accent3"/>
                          </a:solidFill>
                        </a:rPr>
                        <a:t>Demonstrated live</a:t>
                      </a:r>
                      <a:endParaRPr lang="en-US" sz="1200" dirty="0"/>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8328">
                <a:tc>
                  <a:txBody>
                    <a:bodyPr/>
                    <a:lstStyle/>
                    <a:p>
                      <a:pPr marL="0" indent="0">
                        <a:buNone/>
                      </a:pPr>
                      <a:r>
                        <a:rPr lang="en-US" sz="1200" dirty="0">
                          <a:solidFill>
                            <a:schemeClr val="tx1"/>
                          </a:solidFill>
                        </a:rPr>
                        <a:t>Explainability</a:t>
                      </a:r>
                      <a:endParaRPr lang="en-US" sz="1200" dirty="0"/>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chemeClr val="accent3"/>
                          </a:solidFill>
                        </a:rPr>
                        <a:t>Top factors per prediction</a:t>
                      </a:r>
                      <a:endParaRPr lang="en-US" sz="1200" dirty="0"/>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2" name="Dataset"/>
          <p:cNvSpPr/>
          <p:nvPr/>
        </p:nvSpPr>
        <p:spPr>
          <a:xfrm>
            <a:off x="8229600" y="2743200"/>
            <a:ext cx="3410712" cy="1828800"/>
          </a:xfrm>
          <a:prstGeom prst="roundRect">
            <a:avLst>
              <a:gd name="adj" fmla="val 4000"/>
            </a:avLst>
          </a:prstGeom>
          <a:solidFill>
            <a:schemeClr val="tx2"/>
          </a:solidFill>
          <a:ln/>
        </p:spPr>
      </p:sp>
      <p:sp>
        <p:nvSpPr>
          <p:cNvPr id="53" name="Text 50"/>
          <p:cNvSpPr txBox="1"/>
          <p:nvPr/>
        </p:nvSpPr>
        <p:spPr>
          <a:xfrm>
            <a:off x="8412480" y="2834640"/>
            <a:ext cx="3063240" cy="1645920"/>
          </a:xfrm>
          <a:prstGeom prst="rect">
            <a:avLst/>
          </a:prstGeom>
          <a:noFill/>
          <a:ln/>
        </p:spPr>
        <p:txBody>
          <a:bodyPr wrap="square" lIns="0" tIns="0" rIns="0" bIns="0" rtlCol="0" anchor="ctr"/>
          <a:lstStyle/>
          <a:p>
            <a:pPr marL="0" indent="0">
              <a:spcAft>
                <a:spcPts val="300"/>
              </a:spcAft>
              <a:buNone/>
            </a:pPr>
            <a:r>
              <a:rPr lang="en-US" sz="1200" b="1" kern="0" spc="100" dirty="0">
                <a:solidFill>
                  <a:schemeClr val="accent2"/>
                </a:solidFill>
              </a:rPr>
              <a:t>DATASET</a:t>
            </a:r>
            <a:endParaRPr lang="en-US" sz="1200" dirty="0"/>
          </a:p>
          <a:p>
            <a:pPr marL="0" indent="0">
              <a:spcAft>
                <a:spcPts val="300"/>
              </a:spcAft>
              <a:buNone/>
            </a:pPr>
            <a:r>
              <a:rPr lang="en-US" sz="1400" b="1" dirty="0">
                <a:solidFill>
                  <a:schemeClr val="bg1"/>
                </a:solidFill>
              </a:rPr>
              <a:t>UCI Diabetes 130-US Hospitals </a:t>
            </a:r>
          </a:p>
          <a:p>
            <a:pPr marL="0" indent="0">
              <a:spcAft>
                <a:spcPts val="300"/>
              </a:spcAft>
              <a:buNone/>
            </a:pPr>
            <a:r>
              <a:rPr lang="en-US" sz="1400" b="1" dirty="0">
                <a:solidFill>
                  <a:schemeClr val="bg1"/>
                </a:solidFill>
              </a:rPr>
              <a:t>(1999–2008)</a:t>
            </a:r>
            <a:endParaRPr lang="en-US" sz="1200" dirty="0"/>
          </a:p>
          <a:p>
            <a:pPr marL="0" indent="0">
              <a:spcAft>
                <a:spcPts val="300"/>
              </a:spcAft>
              <a:buNone/>
            </a:pPr>
            <a:r>
              <a:rPr lang="en-US" sz="1200" b="1" dirty="0">
                <a:solidFill>
                  <a:schemeClr val="accent2"/>
                </a:solidFill>
              </a:rPr>
              <a:t>No real patient data is used.</a:t>
            </a:r>
            <a:endParaRPr lang="en-US" sz="1200" dirty="0"/>
          </a:p>
          <a:p>
            <a:pPr marL="0" indent="0">
              <a:spcAft>
                <a:spcPts val="300"/>
              </a:spcAft>
              <a:buNone/>
            </a:pPr>
            <a:r>
              <a:rPr lang="en-US" sz="1100" dirty="0">
                <a:solidFill>
                  <a:schemeClr val="bg2"/>
                </a:solidFill>
              </a:rPr>
              <a:t>Alternatives: MIMIC-IV (credentialed),</a:t>
            </a:r>
          </a:p>
          <a:p>
            <a:pPr marL="0" indent="0">
              <a:spcAft>
                <a:spcPts val="300"/>
              </a:spcAft>
              <a:buNone/>
            </a:pPr>
            <a:r>
              <a:rPr lang="en-US" sz="1100" dirty="0">
                <a:solidFill>
                  <a:schemeClr val="bg2"/>
                </a:solidFill>
              </a:rPr>
              <a:t>Synthea (synthetic)</a:t>
            </a:r>
            <a:endParaRPr lang="en-US" sz="1200" dirty="0"/>
          </a:p>
        </p:txBody>
      </p:sp>
      <p:sp>
        <p:nvSpPr>
          <p:cNvPr id="54" name="Risks"/>
          <p:cNvSpPr/>
          <p:nvPr/>
        </p:nvSpPr>
        <p:spPr>
          <a:xfrm>
            <a:off x="8229600" y="4709160"/>
            <a:ext cx="3410712" cy="1554480"/>
          </a:xfrm>
          <a:prstGeom prst="roundRect">
            <a:avLst>
              <a:gd name="adj" fmla="val 4706"/>
            </a:avLst>
          </a:prstGeom>
          <a:solidFill>
            <a:schemeClr val="bg2"/>
          </a:solidFill>
          <a:ln/>
        </p:spPr>
      </p:sp>
      <p:sp>
        <p:nvSpPr>
          <p:cNvPr id="55" name="Text 52"/>
          <p:cNvSpPr txBox="1"/>
          <p:nvPr/>
        </p:nvSpPr>
        <p:spPr>
          <a:xfrm>
            <a:off x="8412480" y="4800600"/>
            <a:ext cx="3108960" cy="274320"/>
          </a:xfrm>
          <a:prstGeom prst="rect">
            <a:avLst/>
          </a:prstGeom>
          <a:noFill/>
          <a:ln/>
        </p:spPr>
        <p:txBody>
          <a:bodyPr wrap="square" lIns="0" tIns="0" rIns="0" bIns="0" rtlCol="0" anchor="ctr"/>
          <a:lstStyle/>
          <a:p>
            <a:pPr marL="0" indent="0">
              <a:buNone/>
            </a:pPr>
            <a:r>
              <a:rPr lang="en-US" sz="1200" b="1" kern="0" spc="100" dirty="0">
                <a:solidFill>
                  <a:schemeClr val="accent4"/>
                </a:solidFill>
              </a:rPr>
              <a:t>RISKS &amp; DEPENDENCIES</a:t>
            </a:r>
            <a:endParaRPr lang="en-US" sz="1200" dirty="0"/>
          </a:p>
        </p:txBody>
      </p:sp>
      <p:sp>
        <p:nvSpPr>
          <p:cNvPr id="56" name="Text 53"/>
          <p:cNvSpPr txBox="1"/>
          <p:nvPr/>
        </p:nvSpPr>
        <p:spPr>
          <a:xfrm>
            <a:off x="8366760" y="5102352"/>
            <a:ext cx="3200400" cy="109728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tx1"/>
                </a:solidFill>
              </a:rPr>
              <a:t>Dataset fit &amp; data quality</a:t>
            </a:r>
            <a:endParaRPr lang="en-US" sz="1200" dirty="0"/>
          </a:p>
          <a:p>
            <a:pPr marL="342900" indent="-342900">
              <a:spcAft>
                <a:spcPts val="200"/>
              </a:spcAft>
              <a:buSzPct val="100000"/>
              <a:buChar char="•"/>
            </a:pPr>
            <a:r>
              <a:rPr lang="en-US" sz="1200" dirty="0">
                <a:solidFill>
                  <a:schemeClr val="tx1"/>
                </a:solidFill>
              </a:rPr>
              <a:t>Class imbalance &amp; model bias</a:t>
            </a:r>
            <a:endParaRPr lang="en-US" sz="1200" dirty="0"/>
          </a:p>
          <a:p>
            <a:pPr marL="342900" indent="-342900">
              <a:spcAft>
                <a:spcPts val="200"/>
              </a:spcAft>
              <a:buSzPct val="100000"/>
              <a:buChar char="•"/>
            </a:pPr>
            <a:r>
              <a:rPr lang="en-US" sz="1200" dirty="0">
                <a:solidFill>
                  <a:schemeClr val="tx1"/>
                </a:solidFill>
              </a:rPr>
              <a:t>Privacy &amp; security</a:t>
            </a:r>
            <a:endParaRPr lang="en-US" sz="1200" dirty="0"/>
          </a:p>
          <a:p>
            <a:pPr marL="342900" indent="-342900">
              <a:spcAft>
                <a:spcPts val="200"/>
              </a:spcAft>
              <a:buSzPct val="100000"/>
              <a:buChar char="•"/>
            </a:pPr>
            <a:r>
              <a:rPr lang="en-US" sz="1200" dirty="0">
                <a:solidFill>
                  <a:schemeClr val="tx1"/>
                </a:solidFill>
              </a:rPr>
              <a:t>Clinical validation before real use</a:t>
            </a:r>
            <a:endParaRPr lang="en-US" sz="1200" dirty="0"/>
          </a:p>
        </p:txBody>
      </p:sp>
      <p:sp>
        <p:nvSpPr>
          <p:cNvPr id="57"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theme/theme1.xml><?xml version="1.0" encoding="utf-8"?>
<a:theme xmlns:a="http://schemas.openxmlformats.org/drawingml/2006/main" name="ReadmitLens">
  <a:themeElements>
    <a:clrScheme name="ReadmitLens">
      <a:dk1>
        <a:srgbClr val="0F172A"/>
      </a:dk1>
      <a:lt1>
        <a:srgbClr val="FFFFFF"/>
      </a:lt1>
      <a:dk2>
        <a:srgbClr val="0B2230"/>
      </a:dk2>
      <a:lt2>
        <a:srgbClr val="F1F5F9"/>
      </a:lt2>
      <a:accent1>
        <a:srgbClr val="0F766E"/>
      </a:accent1>
      <a:accent2>
        <a:srgbClr val="5EEAD4"/>
      </a:accent2>
      <a:accent3>
        <a:srgbClr val="16A34A"/>
      </a:accent3>
      <a:accent4>
        <a:srgbClr val="D97706"/>
      </a:accent4>
      <a:accent5>
        <a:srgbClr val="DC2626"/>
      </a:accent5>
      <a:accent6>
        <a:srgbClr val="64748B"/>
      </a:accent6>
      <a:hlink>
        <a:srgbClr val="0F766E"/>
      </a:hlink>
      <a:folHlink>
        <a:srgbClr val="64748B"/>
      </a:folHlink>
    </a:clrScheme>
    <a:fontScheme name="ReadmitLen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1410</Words>
  <Application>Microsoft Office PowerPoint</Application>
  <PresentationFormat>Widescreen</PresentationFormat>
  <Paragraphs>276</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ReadmitLens</vt:lpstr>
      <vt:lpstr>PowerPoint Presentation</vt:lpstr>
      <vt:lpstr>An Explainable Readmission Risk Assistant</vt:lpstr>
      <vt:lpstr>Why ReadmitLens Is Different</vt:lpstr>
      <vt:lpstr>How ReadmitLens Works</vt:lpstr>
      <vt:lpstr>Tech Stack &amp; Build Plan</vt:lpstr>
      <vt:lpstr>What We Will Demonstrate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ReadmitLens — Hospital Readmission Risk Prediction</dc:title>
  <dc:subject>PptxGenJS Presentation</dc:subject>
  <dc:creator>PptxGenJS</dc:creator>
  <cp:lastModifiedBy>Karthik Hirenarti</cp:lastModifiedBy>
  <cp:revision>6</cp:revision>
  <dcterms:created xsi:type="dcterms:W3CDTF">2026-10-05T07:24:24Z</dcterms:created>
  <dcterms:modified xsi:type="dcterms:W3CDTF">2026-10-05T09:56:24Z</dcterms:modified>
</cp:coreProperties>
</file>